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[자료구조] 5주차. 선형 자료구조의 핵심, 스택(Stack)과 큐(Queue)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1: 타이틀 슬라이드 (시작하며)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5주차: 정보를 저장하는 두 가지 위대한 규칙 — 스택(Stack)과 큐(Queue)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여러분, 반갑습니다. 컴퓨터정보과 자료구조 강의를 맡은 교수입니다.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우리는 지난 시간에 가장 기본적이면서도 유연한 '리스트(List)'를 배웠습니다. 이번 5주차에는 컴퓨터 과학뿐만 아니라 실무 개발에서 가장 빈번하게 사용되는 두 가지 핵심 자료구조인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스택(Stack)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과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큐(Queue)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를 배웁니다. 데이터를 단순히 저장하는 것을 넘어, '어떤 순서로 넣고 꺼낼 것인가'에 대한 엄격한 규칙이 왜 필요한지 오늘 명쾌하게 이해하시게 될 것입니다.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과목명: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자료구조 (Data Structures)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주차: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5주차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대상 학습자: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컴퓨터정보과 1학년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학습 목표: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스택과 큐의 핵심 동작 원리(LIFO, FIFO)를 명확히 설명할 수 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Python의 리스트와 내장 모듈(`collections.deque`)을 활용하여 스택과 큐를 직접 구현할 수 있다.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실무 및 일상적인 소프트웨어에서 스택과 큐가 활용되는 구체적인 사례를 식별하고 적용할 수 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따뜻하고 세련된 대학 강의실 배경에 'Stack &amp; Queue'라는 세련된 타이포그래피가 적힌 메인 타이틀 화면 이미지]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3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2: 오늘의 배움 지도 (목차)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오늘 우리가 함께 정복할 지도입니다.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지루한 이론 나열이 아니라, 개념을 머릿속에 시각화하고, 이를 코드로 직접 구현한 뒤, 실제 우리 서비스에 어떻게 적용되는지 확인하는 입체적인 학습을 진행하겠습니다.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자료구조의 제한적 규칙이 필요한 이유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(자율성 vs 규칙성)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스택(Stack)의 이해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개념과 추상 데이터 타입(ADT)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Python 구현 (List 활용)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스택의 활용: 웹 브라우저 뒤로가기, 괄호 검사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큐(Queue)의 이해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개념과 추상 데이터 타입(ADT)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Python 구현 (`collections.deque` 활용)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큐의 시간 복잡도 분석 ($O(1)$ vs $O(N)$)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6634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큐의 변형: 원형 큐, 우선순위 큐, 덱(Deque)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스택 vs 큐 핵심 비교 및 실무 요약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숲 속의 오솔길을 따라 이정표들이 꽂혀 있는 그림. 이정표마다 '스택', 'Python 구현', '큐', '실무 활용' 등의 키워드가 순서대로 적혀 있는 로드맵 일러스트]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4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3: 왜 굳이 규칙을 제한할까요?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아무렇게나 넣고 뺄 수 있는 리스트가 있는데, 왜 굳이 제약을 걸까요?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우리는 지난 시간에 인덱스를 통해 아무 곳에나 데이터를 넣고 뺄 수 있는 자유로운 리스트를 배웠습니다. 그렇다면 왜 입구와 출구를 막아놓은 불편한 자료구조를 쓸까요?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자유도는 때로 버그를 만듭니다.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누구나 마음대로 데이터를 중간에 끼워 넣거나 삭제할 수 있다면 데이터의 순서와 무결성이 깨집니다.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목적에 특화된 단순함이 주는 강력함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"가장 마지막에 들어온 것부터 처리한다" 혹은 "먼저 온 사람부터 처리한다"라는 명확한 규칙이 있을 때, 프로그램은 훨씬 단순하고 안전하며, 동작 속도 또한 극대화됩니다.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결론: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스택과 큐는 설계의 '안전장치'이자 '속도 보증 수표'입니다.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자유롭지만 무질서하게 흩어져 있는 장난감 상자(리스트를 비유)와 깔끔하게 한 줄로 정리되어 순서대로만 꺼낼 수 있는 보관함(스택/큐를 비유)의 대비 도식]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5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4: Part 1. 스택(Stack)이란 무엇인가?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차곡차곡 쌓아 올리는 데이터 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*스택(Stack)**의 사전적 의미는 '더미', '쌓아 올림'입니다. 일상생활에서 스택의 원리는 이미 우리 주변에 가득합니다.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실생활 비유: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식당의 식판 더미: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씻어서 새로 올려놓는 식판은 가장 위에 놓이고, 학생들이 꺼내 쓰는 식판도 가장 위에 있는 것입니다.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프링글스 과자: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통에 넣을 때 가장 먼저 들어간 과자는 바닥에 있고, 우리는 가장 위에 있는 과자부터 먹게 됩니다.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책상 위에 쌓인 책: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공부하려고 책을 쌓아두면, 맨 위 책부터 한 권씩 치우며 읽어야 쓰러지지 않습니다.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프링글스 과자통에 과자가 차례대로 들어가고 맨 위의 과자부터 꺼내 먹는 모습을 보여주는 직관적인 카툰 일러스트]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6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5: 스택의 핵심 원리: LIFO (Last-In, First-Out)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후입선출(後入先出): "마지막에 들어온 것이 가장 먼저 나간다!"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스택을 지배하는 유일한 규칙은 바로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LIFO(라이포)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입니다.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입구와 출구가 동일합니다.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데이터가 들어오는 통로와 나가는 통로가 하나로 통제되어 있습니다.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밑바닥(Bottom)과 꼭대기(Top)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가장 먼저 들어간 첫 데이터는 맨 아래(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Bottom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)에 깔립니다.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가장 최근에 들어간 데이터가 있는 곳이자, 데이터의 입출력이 일어나는 현재 위치를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Top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이라고 부릅니다.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밑이 막혀 있는 원통 모양의 스택 구조도. 바닥(Bottom)부터 데이터 A, B, C가 차례대로 쌓여 있고, 맨 위(Top)에 놓인 C 위에 '입출구' 화살표가 가리키고 있는 형태의 다이어그램]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7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6: 스택의 추상 데이터 타입 (ADT)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스택을 정의하는 표준 명세서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자료구조를 배울 때 '구현'에 앞서 '기능 명세서'인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ADT(Abstract Data Type)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를 이해해야 합니다. 스택이 되기 위해 반드시 필요한 기능들은 다음과 같습니다.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핵심 연산 (Core Operations):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`push(item)`: 스택의 맨 위(Top)에 새로운 데이터를 삽입합니다.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`pop()`: 스택의 맨 위(Top)에 있는 데이터를 꺼내고 제거합니다.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보조 연산 (Helper Operations):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`peek()` 또는 `top()`: 맨 위에 있는 데이터를 꺼내지는 않고 무엇인지 '들여다보기'만 합니다.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`isEmpty()`: 스택이 비어있는지 여부(`True` / `False`)를 확인합니다.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`size()`: 현재 스택에 저장된 데이터의 개수를 반환합니다.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칠판 모양의 배경에 스택 ADT가 '함수 이름'과 '기능'으로 깔끔하게 매핑되어 적혀 있는 표 도식]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8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7: 스택의 동작 과정 시각화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눈으로 보는 Push와 Pop의 흐름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스택에 데이터 `[10, 20]`이 차례로 들어가고 나오는 과정을 시간 순서대로 따라가 봅시다.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빈 스택 상태: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`isEmpty() == True`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Push(10):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스택 바닥에 `10`이 배치됩니다. (Top은 `10`을 가리킴)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Push(20):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`10` 위에 `20`이 쌓입니다. (Top이 `20`으로 이동)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Peek():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현재 Top인 `20`을 확인합니다. (제거 안 됨)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Pop():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맨 위 `20`이 제거되면서 밖으로 나옵니다. (Top은 다시 `10`을 가리킴)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단계별(Step 1 ~ Step 5) 스택의 메모리 변화를 나타내는 상자 그림. 각 단계마다 데이터의 이동(화살표)과 Top 포인터의 위치 변화가 명확하게 표현된 레이아웃]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9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8: Python으로 스택 구현하기 (기본 리스트 활용)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Python의 내장 리스트는 이미 훌륭한 스택입니다.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Python 프로그래머들은 스택을 구현하기 위해 처음부터 코딩하지 않습니다. 내장된 `list` 타입이 이미 효율적인 스택의 기능을 포함하고 있기 때문입니다.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매핑 테이블: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`push(item)` $\rightarrow$ `list.append(item)` (리스트의 맨 끝에 추가)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`pop()` $\rightarrow$ `list.pop()` (리스트의 맨 끝 요소를 꺼내며 제거)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`peek()` $\rightarrow$ `list[-1]` (인덱스 -1을 활용해 맨 끝 요소를 단순 조회)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`isEmpty()` $\rightarrow$ `len(list) == 0` (길이가 0인지 체크)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Python 리스트 객체 이미지 옆에 append()와 pop() 메서드가 리스트의 맨 끝(오른쪽)에서만 작동하는 모습을 표현한 개념도]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10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9: Python 스택 코드 실습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직접 실행해 보는 안전하고 깔끔한 스택 클래스 작성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우아한 프로그래머라면 리스트를 날것으로 쓰기보다, 가독성을 위해 클래스로 캡슐화하여 사용하는 것이 좋습니다.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solidFill>
            <a:srgbClr val="282C34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Stack: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[]  # 데이터를 저장할 내부 리스트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len(self.items) == 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push(self, item):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self.items.append(item)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print(f"Push: {item} -&gt; Current Stack: {self.items}")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pop(self):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print("Stack Underflow! 스택이 비어 있습니다.")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popped = self.items.pop()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print(f"Pop: {popped} -&gt; Current Stack: {self.items}")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popped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self.items[-1]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11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10: 작성한 스택 클래스 테스트해보기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실제 실행 결과 확인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위에서 구현한 `Stack` 클래스를 인스턴스화하여 동작을 검증해 봅시다. 여러분도 노트북을 켜고 함께 타이핑해 보세요.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solidFill>
            <a:srgbClr val="282C34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스택 객체 생성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= Stack()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데이터 삽입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stack.push("파이썬")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stack.push("자료구조")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stack.push("전문대 최고 우수생")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맨 위 확인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print(f"현재 Top 데이터 (Peek): {stack.peek()}")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데이터 추출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stack.pop()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stack.pop()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stack.pop()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stack.pop() # 빈 스택에서 pop 시도 (예외 처리 작동 확인)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715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*출력 결과:**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0"/>
          </a:xfrm>
          <a:prstGeom prst="rect">
            <a:avLst/>
          </a:prstGeom>
          <a:solidFill>
            <a:srgbClr val="282C34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Push: 파이썬 -&gt; Current Stack: ['파이썬']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Push: 자료구조 -&gt; Current Stack: ['파이썬', '자료구조']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Push: 전문대 최고 우수생 -&gt; Current Stack: ['파이썬', '자료구조', '전문대 최고 우수생']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Top 데이터 (Peek): 전문대 최고 우수생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Pop: 전문대 최고 우수생 -&gt; Current Stack: ['파이썬', '자료구조']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Pop: 자료구조 -&gt; Current Stack: ['파이썬']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Pop: 파이썬 -&gt; Current Stack: []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Underflow! 스택이 비어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12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11: 스택은 어디에 쓰일까요? (1) 웹 브라우저 뒤로가기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우리가 매일 사용하는 브라우저의 비밀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인터넷 서핑을 할 때 '뒤로가기'와 '앞으로가기' 버튼이 어떻게 작동하는지 궁금하지 않으셨나요? 이 기능은 정확히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두 개의 스택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으로 완벽하게 구현할 수 있습니다.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작동 원리: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새로운 페이지를 방문할 때마다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이전 페이지(Backward Stack)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에 현재 페이지를 `push`합니다.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'뒤로가기'를 누르면,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Backward Stack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에서 `pop`한 페이지로 이동하고, 현재 페이지는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Forward Stack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에 `push`합니다.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'앞으로가기'를 누르면 역방향으로 동작합니다.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웹 브라우저 창 왼쪽 아래에 '뒤로가기 스택(Backward)'과 '앞으로가기 스택(Forward)'이 배치되어 있고, 사용자가 뒤로가기 버튼을 누를 때 데이터가 어떻게 이동하는지 보여주는 흐름도]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13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12: 스택은 어디에 쓰일까요? (2) 올바른 괄호 검사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컴파일러가 소스 코드의 오류를 잡아내는 방법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프로그래밍할 때 소스 코드의 괄호 짝 `( )`, `{ }`, `[ ]`이 맞지 않으면 에러가 납니다. 컴퓨터는 수백 줄의 코드 속에서 괄호의 짝이 맞는지 어떻게 판별할까요? 여기서도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스택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이 활약합니다.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알고리즘 규칙: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여는 괄호 `(`, `{`, `[` 를 만나면 스택에 무조건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Push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닫는 괄호 `)`, `}`, `]` 를 만나면 스택에서 최상단 요소를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Pop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하여 짝이 맞는지 비교합니다.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만약 문장이 끝났는데 스택이 비어 있지 않거나, 짝이 맞지 않는다면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오류(Invalid)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"if (a == b) { print(a) }" 문장을 왼쪽부터 한 글자씩 읽어가며 여는 괄호가 나올 때 스택에 넣고, 닫는 괄호가 나올 때 스택에서 빼서 매칭 검사를 수행하는 시각 추적선 도식]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14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13: 괄호 검사 알고리즘 Python 구현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면접에서 정말 자주 나오는 알고리즘 단골 질문입니다!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실제 작동하는 코드로 괄호 검사기를 만들어 봅시다. 이 코드는 매우 간결하면서도 완벽하게 동작합니다.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solidFill>
            <a:srgbClr val="282C34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check_brackets(expression):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stack = []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mapping = {")": "(", "}": "{", "]": "["}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char in expression: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char in mapping.values(): # 여는 괄호인 경우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stack.append(char)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char in mapping.keys(): # 닫는 괄호인 경우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stack or stack.pop() != mapping[char]: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return False # 짝이 안 맞거나 스택이 비어있는 경우 오류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len(stack) == 0 # 문장이 끝났을 때 스택이 완전히 비어 있어야 합격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테스트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print(check_brackets("()()[[{}]]")) # 출력: True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print(check_brackets("({[})"))       # 출력: False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15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14: 스택은 어디에 쓰일까요? (3) 시스템 콜 스택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함수가 자기를 호출한 곳을 기억하는 메커니즘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우리가 함수를 호출할 때, 컴퓨터의 CPU 메모리 내부에서는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시스템 콜 스택(System Call Stack)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이 동작합니다.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원리: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`Main()` 함수에서 `FuncA()`를 호출하면, 실행 정보를 스택에 기록(Push)하고 `FuncA`로 점프합니다.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`FuncA()` 실행 도중 `FuncB()`를 호출하면 그 위에 다시 `FuncB` 정보를 쌓습니다.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실행이 완료되면 역순으로 메모리에서 빠져나와(Pop) 원래 있던 곳으로 정상 복귀합니다.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*생각해 볼 거리:* 만약 함수가 끝없이 자신을 호출하는 재귀(Recursion)에 빠진다면 어떻게 될까요? 바로 악명 높은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Stack Overflow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 에러가 발생합니다!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메모리 영역 내에서 Main() -&gt; FuncA() -&gt; FuncB() 순서로 메모리 프레임이 위로 쌓이고, 복귀 시 위에서부터 하나씩 제거되는 콜스택 메모리 레이아웃 구조도]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16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15: 1부 중간 점검 퀴즈 &amp; 생각할 거리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잠시 숨을 고르고, 머릿속으로 답을 찾아보세요.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*Q1.** 스택에 `A`, `B`, `C`, `D`를 순서대로 Push한 뒤, Pop을 두 번 수행했습니다. 현재 스택에 남아 있는 데이터와 맨 위에 있는 데이터는 각각 무엇일까요?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**정답:** 남아 있는 데이터는 `[A, B]` 이며, 맨 위에 있는 데이터(Top)는 `B` 입니다. (C와 D는 먼저 Pop되어 나갔습니다.)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&lt;br&gt;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*Q2.** 실무 개발 중에 문서 편집기의 "되돌리기(Ctrl + Z)" 기능도 스택으로 구현할 수 있을까요? 그 이유는 무엇인가요?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0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**교수의 힌트:** 사용자가 작업한 모든 액션 히스토리를 차곡차곡 쌓아 두었다가, 되돌리기를 누를 때 '가장 최근에 했던 일'부터 취소해야 하므로 스택이 완벽하게 들어맞습니다.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17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16: Part 2. 큐(Queue)란 무엇인가?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공평하고 정직한 대기열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스택이 '쌓아 올린 탑'이라면,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큐(Queue)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는 '질서 있는 줄 서기'입니다. 'Queue'라는 단어 자체가 영국식 영어로 '줄을 서서 기다리는 행위' 또는 '대기열'을 의미합니다.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실생활 비유: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인기 맛집 대기줄: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먼저 와서 대기 명단에 이름을 올린 손님이 먼저 입장하여 식사를 합니다. 새치기는 허용되지 않습니다.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고속도로 톨게이트: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먼저 진입한 차량이 요금을 내고 톨게이트를 먼저 빠져나갑니다.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은행 번호표: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번호표 발행기에서 먼저 뽑은 고객의 번호가 먼저 호출됩니다.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레스토랑 앞에 사람들이 한 줄로 서 있고, 맨 앞사람이 가게 안으로 들어가고 맨 뒷사람은 줄의 끝에 붙는 모습을 묘사한 깔끔한 일러스트]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18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17: 큐의 핵심 원리: FIFO (First-In, First-Out)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선입선출(先入先出): "먼저 들어온 녀석이 먼저 나간다!"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큐를 지배하는 유일한 규칙은 바로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FIFO(피포)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입니다.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입구와 출구가 분리되어 있습니다.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스택과 달리 통로가 양쪽으로 뚫려 있습니다. 한쪽 끝에서는 오직 데이터 삽입만 일어나고, 다른 쪽 끝에서는 오직 데이터 추출만 일어납니다.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머리(Front)와 꼬리(Rear/Back)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Front (Head):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데이터가 나가는 출구이며, 가장 먼저 들어왔던 데이터가 위치합니다.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Rear (Tail):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새로운 데이터가 들어오는 입구이며, 가장 최근에 들어온 데이터가 위치합니다.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원통형 파이프 모양으로 앞뒤가 뚫려 있는 큐 구조도. 오른쪽(Rear, 입구)으로 데이터가 들어오고 왼쪽(Front, 출구)으로 데이터가 나가는 방향이 화살표로 명시된 다이어그램]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19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18: 큐의 추상 데이터 타입 (ADT)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큐를 정의하는 표준 명세서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큐의 핵심 인터페이스 역시 아주 명확하고 단순합니다.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핵심 연산 (Core Operations):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`enqueue(item)`: 큐의 맨 뒤(Rear)에 새로운 데이터를 추가합니다. (줄 서기)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`dequeue()`: 큐의 맨 앞(Front)에 있는 데이터를 꺼내고 제거합니다. (입장하기)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보조 연산 (Helper Operations):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`peek()` 또는 `front()`: 맨 앞에 대기 중인 데이터가 무엇인지 꺼내지 않고 관찰만 합니다.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`isEmpty()`: 대기 줄이 비어있는지 확인합니다.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`size()`: 현재 대기 중인 데이터의 총 개수를 반환합니다.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02336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큐의 주요 메서드(Enqueue, Dequeue)가 파이프 구조 안에서 작동하는 모습을 추상화한 이쁜 표 형태의 인포그래픽]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20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19: 큐의 동작 과정 시각화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눈으로 보는 Enqueue와 Dequeue의 흐름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큐에 데이터 `[A, B]`가 차례로 들어가고 나오는 과정을 시간 순서대로 따라가 봅시다.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빈 큐 상태: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`isEmpty() == True`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Enqueue(A):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큐에 `A`가 들어옵니다. (Front이자 Rear가 모두 `A`)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Enqueue(B):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`A` 뒤에 `B`가 와서 섭니다. (Front는 `A`, Rear는 `B`)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Peek():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현재 맨 앞에 있는 `A`를 조회합니다.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Dequeue():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 맨 앞의 `A`가 대기열을 빠져나갑니다. (이제 Front와 Rear는 모두 `B`가 됨)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시간에 흐름에 따라 큐 내부에 데이터 블록이 저장되고 빠져나가는 4단계 시퀀스 박스 다이어그램]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21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20: Python으로 큐 구현하기: 고민의 시작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그냥 일반 리스트(`list`)를 쓰면 안 될까요?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스택처럼 Python의 내장 리스트로 큐를 억지로 구현할 수는 있습니다.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`enqueue(item)` $\rightarrow$ `list.append(item)` (리스트 맨 뒤 추가, 매우 빠름 $O(1)$)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`dequeue()` $\rightarrow$ `list.pop(0)` (리스트의 맨 첫 번째 요소를 제거)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⚠️ 하지만 여기에는 엄청난 성능 함정이 숨어 있습니다!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`pop(0)`을 실행하면, 첫 번째 방이 비게 되므로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그 뒤에 있던 수많은 데이터가 한 칸씩 앞으로 이사(Shift)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를 가야 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만약 대기열에 10만 명의 데이터가 있다면, 한 명 나갈 때마다 9만 9,999명이 동시에 움직여야 합니다.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이는 컴퓨터 과학에서 매우 치명적인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시간 복잡도 $O(N)$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의 비효율성을 초래합니다.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맨 앞자리 사람(index 0)이 빠지자 뒤에 있던 1, 2, 3번 자리에 있던 상자들이 일제히 땀을 흘리며 왼쪽으로 한 칸씩 미끄러져 이동하는 만화 형태의 개념도]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22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21: 해결책: `collections.deque` 모듈의 등장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"우리는 준비된 양방향 큐를 사용합니다."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Python은 이 성능 문제를 우아하게 해결하기 위해 표준 라이브러리로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`collections.deque`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(Double-ended Queue, 덱)을 제공합니다.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`deque`는 양쪽 끝에서의 추가와 삭제가 모두 $O(1)$(상수 시간) 만에 가능하도록 최적화 설계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되어 있습니다.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우리는 실무에서 큐를 구현할 때 무조건 `deque`를 적극적으로 임포트하여 사용해야 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매핑 테이블: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`enqueue(item)` $\rightarrow$ `deque.append(item)`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`dequeue()` $\rightarrow$ `deque.popleft()` (가장 왼쪽인 첫 데이터를 매우 안전하고 빠르게 제거)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collections.deque 라이브러리 로고 모양의 박스 일러스트와 좌우 끝단에 O(1) 초고속 입출력이 가능함을 알리는 성능 속도계 이미지]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23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22: Python 큐 구현 실습 (`deque` 기반)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실무 표준 템플릿 코드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`deque`를 내부 변수로 품은 나만의 `Queue` 클래스를 정의해 보겠습니다. 이 방식은 가독성과 성능을 모두 보장하는 모범 답안입니다.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solidFill>
            <a:srgbClr val="282C34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Queue: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 = deque() # 성능이 보장된 deque 인스턴스 생성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is_empty(self):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len(self.items) == 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enqueue(self, item):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self.items.append(item)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print(f"Enqueue: {item} -&gt; Current Queue: {list(self.items)}")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dequeue(self):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print("Queue Underflow! 대기줄이 비어 있습니다.")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dequeued = self.items.popleft() # 맨 왼쪽 요소를 O(1) 성능으로 제거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print(f"Dequeue: {dequeued} -&gt; Current Queue: {list(self.items)}")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dequeued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peek(self):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self.is_empty():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None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self.items[0] # 맨 앞의 원소 단순히 조회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24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23: 작성한 큐 클래스 작동 테스트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실제 실행 및 내부 변화 디버깅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우리가 만든 큐가 실제로 정직하고 빠르게 선입선출을 하는지 검증해 봅시다.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solidFill>
            <a:srgbClr val="282C34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큐 객체 생성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Queue()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줄 세우기 (Enqueue)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queue.enqueue("1번 손님")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queue.enqueue("2번 손님")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queue.enqueue("3번 손님")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맨 앞 손님 확인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print(f"현재 대기 1순위 (Peek): {queue.peek()}")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서비스 제공 및 퇴장 (Dequeue)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queue.dequeue()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queue.dequeue()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queue.dequeue()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queue.dequeue() # 대기자가 없을 때 예외 동작 확인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5715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*출력 결과:**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035040"/>
            <a:ext cx="8229600" cy="0"/>
          </a:xfrm>
          <a:prstGeom prst="rect">
            <a:avLst/>
          </a:prstGeom>
          <a:solidFill>
            <a:srgbClr val="282C34"/>
          </a:solidFill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Enqueue: 1번 손님 -&gt; Current Queue: ['1번 손님']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Enqueue: 2번 손님 -&gt; Current Queue: ['1번 손님', '2번 손님']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Enqueue: 3번 손님 -&gt; Current Queue: ['1번 손님', '2번 손님', '3번 손님']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현재 대기 1순위 (Peek): 1번 손님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Dequeue: 1번 손님 -&gt; Current Queue: ['2번 손님', '3번 손님']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Dequeue: 2번 손님 -&gt; Current Queue: ['3번 손님']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Dequeue: 3번 손님 -&gt; Current Queue: []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Underflow! 대기줄이 비어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25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24: 큐의 다양한 형태들 (1) 원형 큐 (Circular Queue)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한정된 메모리를 재활용하는 현명한 방법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일반 배열로 큐를 만들면 `dequeue`를 할수록 앞부분의 빈 방들이 놀게 되고, 뒤로만 계속 포인터가 늘어나는 치명적인 낭비가 생깁니다.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원형 큐의 원리: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메모리의 끝과 시작을 둥글게 이어 붙였다고 가정합니다.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인덱스를 증가시킬 때 나누기 연산자 `%`를 사용한 모듈러 연산(`(Rear + 1) % Max_Size`)으로 인덱스가 다시 0번 방으로 회전하게 만듭니다.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자원이 극도로 한정된 임베디드 환경이나 기기 장치 드라이버 구현 시 아주 빈번히 쓰입니다.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원형 모양으로 구성된 8칸짜리 원형 큐 링 다이어그램. Front와 Rear 인덱스가 시계 방향으로 회전하며 메모리를 끊임없이 순환 재활용하는 구조적 도식]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26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25: 큐의 다양한 형태들 (2) 우선순위 큐 &amp; 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대기열의 특수 변형태들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우리는 기본 큐 외에도 프로젝트 요건에 따라 조금 더 진화한 형태의 큐를 사용합니다.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우선순위 큐 (Priority Queue):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줄을 서는 순서에 상관없이,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가장 긴급하거나 가치 있는 데이터(우선순위가 높은 데이터)가 먼저 출력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되는 자료구조입니다.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*예시:* 응급실 대기열 (감기 환자보다 급성 호흡곤란 환자가 먼저 진료실에 들어갑니다.)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주로 내부적으로 '이진 힙(Heap)'이라는 또 다른 자료구조를 통해 구현합니다.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덱 (Deque - Double Ended Queue):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양방향 큐</a:t>
            </a:r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입니다. 즉, 양쪽 끝(Front, Rear) 어디서나 삽입(`push`)과 삭제(`pop`)를 자유롭게 처리할 수 있는 최고 수준의 유연성을 가집니다.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(좌) 데이터 옆에 '우선순위 수치' 배지가 달려서 정렬되는 응급실 비유 일러스트 / (우) 양쪽 끝에서 화살표가 드나들 수 있는 유연한 Deque 박스 일러스트]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27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26: 큐는 어디에 쓰일까요? (1) 프린터 스풀러 &amp; CPU 스케줄러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자원을 공유하는 모든 곳에 큐가 있습니다.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컴퓨터의 가장 귀중한 자원인 CPU나 하드웨어 출력 장치는 한 번에 하나의 일만 처리할 수 있습니다.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프린터 인쇄 대기열 (Spooler):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사무실 직원 10명이 동시에 인쇄를 누르면, 프린터는 요청이 들어온 순서대로 데이터를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큐(대기 메모리)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에 적재해 두고 한 장씩 차례로 출력합니다.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CPU 스케줄러 (Round Robin):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컴퓨터 안에서 작동 중인 수많은 프로그램(프로세스)들을 큐에 등록해 둔 뒤, CPU를 아주 짧은 시간 단위로 공평하게 할당하여 실행시켜 줍니다.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네트워크로 연결된 여러 대의 PC에서 전송된 '인쇄 문서'들이 원통형 프린터 큐 메모리에 적재되어 차례대로 프린터 헤더로 전달되어 인쇄되는 하드웨어 아키텍처 다이어그램]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28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27: 큐는 어디에 쓰일까요? (2) 데이터 버퍼 (Buffer)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속도 차이를 메워주는 충격 흡수 장치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비디오 스트리밍 서비스(유튜브, 넷플릭스)를 이용하다 보면 네트워크 속도 불안정으로 중간중간 화면이 멈출 수 있습니다. 이를 예방하기 위해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버퍼링(Buffering)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을 수행합니다.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원리: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인터넷망을 통해 다운로드된 비디오 데이터 패킷을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큐(버퍼)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에 미리 한가득 채워 놓습니다.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플레이어는 네트워크 상태와 상관없이 버퍼 큐에서 한 프레임씩 부드럽게 가져와서 영상을 재생합니다.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이때 데이터를 생산하는 곳과 소비하는 곳 사이의 속도 차이를 유연하게 조절해 주는 충격 흡수 장치 역할을 큐가 해 냅니다.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'네트워크 수신부'에서 고르지 않은 속도로 데이터 알갱이들이 유입되어 버퍼 큐에 차곡차곡 쌓이고, 오른쪽 '플레이어' 화면으로는 일정한 속도로 차례대로 흘러 들어가는 완충(Buffering) 아키텍처 시각 이미지]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29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28: 핵심 비교: 스택 vs 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이제 두 구조의 차이를 확실하게 정리해 봅시다.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면접관이 여러분께 "스택과 큐의 차이와 성능에 대해 간결하게 설명해 보세요"라고 묻는다면, 이 한 장의 표로 대답하십시오.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| 비교 항목 | 스택 (Stack) | 큐 (Queue) |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| :--- | :--- | :--- |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핵심 규칙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 |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LIFO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 (후입선출) |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FIFO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 (선입선출) |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입출구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 | 입구와 출구가 동일함 | 입구(Rear)와 출구(Front)가 다름 |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가장 중요한 연산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 | `push()`, `pop()` | `enqueue()`, `dequeue()` |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주요 활용 사례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 | 함수 콜 스택, 뒤로가기, 괄호 짝 검사 | 프린터 대기열, 작업 대기 버퍼, BFS 탐색 |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| </a:t>
            </a:r>
            <a:pPr indent="0" marL="0">
              <a:buNone/>
            </a:pPr>
            <a:r>
              <a:rPr lang="en-US" sz="1500" b="1" dirty="0">
                <a:solidFill>
                  <a:srgbClr val="555555"/>
                </a:solidFill>
              </a:rPr>
              <a:t>이상적인 시간 복잡도</a:t>
            </a:r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 | 삽입/삭제 모두 $O(1)$ | 삽입/삭제 모두 $O(1)$ (`deque` 사용 시) |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30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29: 오늘 배운 내용 핵심 요약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오늘 강의를 마치며, 이것만은 꼭 머릿속에 기억하고 강의실 문을 나섭시다.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적절한 규칙의 제한이 완성도 높은 코드를 만든다: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리스트처럼 아무 곳에나 접근 가능한 구조보다, 쓰임새에 맞춰 제약이 있는 스택과 큐를 사용하면 프로그램 오류를 예방할 수 있습니다.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스택(Stack): LIFO (후입선출)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입출구가 하나인 상자 구조이며, Python 구현 시 단순 `list`의 `append()`와 `pop()`을 사용하는 것이 매우 효율적입니다.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큐(Queue): FIFO (선입선출)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앞뒤가 뚫린 긴 터널 구조이며, Python 리스트의 `pop(0)`은 심각한 데이터 시프트 유발로 비효율적($O(N)$)이므로, 반드시 `collections.deque` 모듈의 `popleft()`를 사용하여 $O(1)$의 성능을 이끌어내야 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4783455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</a:rPr>
              <a:t>31 / 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## Slide 30: 다음 주 예고 &amp; 질의응답 (Q&amp;A)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수고 많으셨습니다! 다음 주 배움터 안내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</a:rPr>
              <a:t>오늘 배운 스택과 큐는 다음 주부터 배울 고급 자료구조와 알고리즘들의 기초 체력이 됩니다.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질의응답 시간: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오늘 실습 코드에서 잘 안 풀렸던 에러가 있거나, 실무 활용 사례 중 이해가 가지 않는 부분은 언제든 자유롭게 질문해 주세요.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444444"/>
                </a:solidFill>
              </a:rPr>
              <a:t>6주차 예고: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컴퓨터가 복잡한 계층 관계를 나타내기 위해 데이터를 나무 형태로 저장하는 위대한 자료구조,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트리(Tree)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와 가장 핵심인 </a:t>
            </a:r>
            <a:pPr indent="0" marL="0">
              <a:buNone/>
            </a:pPr>
            <a:r>
              <a:rPr lang="en-US" sz="1600" b="1" dirty="0">
                <a:solidFill>
                  <a:srgbClr val="444444"/>
                </a:solidFill>
              </a:rPr>
              <a:t>이진 트리(Binary Tree)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로 여러분을 찾아오겠습니다.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8229600" cy="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91B1B"/>
                </a:solidFill>
              </a:rPr>
              <a:t>[그림 설명: 교수님의 따뜻한 미소 일러스트와 함께 질의응답을 환영하는 'Q&amp;A' 문구가 화면 중앙에 쓰여 있는 아웃트로 슬라이드]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2026-05-25T05:38:06Z</dcterms:created>
  <dcterms:modified xsi:type="dcterms:W3CDTF">2026-05-25T05:38:06Z</dcterms:modified>
</cp:coreProperties>
</file>