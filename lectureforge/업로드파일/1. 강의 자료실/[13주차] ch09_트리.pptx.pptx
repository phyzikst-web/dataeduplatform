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89" r:id="rId25"/>
    <p:sldId id="290" r:id="rId26"/>
    <p:sldId id="29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84" y="1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1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09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(Tree)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3931920"/>
            <a:ext cx="393192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트리 구조          09-2  이진 트리와 이진 검색 트리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트리의 구조와 관련 용어 ( 루트, 리프, 부모, 자식, 형제, 레벨, 높이 ) 를 설명할 수 있음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트리와 무순서 트리의 차이를 이해함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0428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너비 우선 검색 (BFS) 과 깊이 우선 검색 (DFS) 의 탐색 순서를 구분할 수 있음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전위 순회 · 중위 순회 · 후위 순회의 방문 순서를 설명할 수 있음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621024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트리와 완전 이진 트리의 특징을 이해함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27939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트리의 조건 ( 왼쪽 &lt; 부모 &lt; 오른쪽 ) 을 설명할 수 있음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937760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트리에서 검색 · 삽입 · 삭제 연산의 과정을 설명할 수 있음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57200" y="5614416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614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559612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트리를 Python 코드로 구현할 수 있음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 트리 구조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(Tree) 란?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사이의 계층 관계를 표현하는 자료구조로, 노드(node)와 가지(edge)로 구성됨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2560317" y="2523744"/>
            <a:ext cx="3" cy="63093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523744"/>
            <a:ext cx="91440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529584"/>
            <a:ext cx="54864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962656" y="3529584"/>
            <a:ext cx="512064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3529584"/>
            <a:ext cx="548640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4535424"/>
            <a:ext cx="0" cy="58521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79" y="4535423"/>
            <a:ext cx="576773" cy="575367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2576" y="2048256"/>
            <a:ext cx="475488" cy="47548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2048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08176" y="30540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3054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36976" y="30540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3054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" y="40599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059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56816" y="40599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6816" y="4059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88336" y="40599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4059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85616" y="40599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4059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3712" y="21762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53712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43866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526870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3691" y="2176272"/>
            <a:ext cx="5852160" cy="236776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 35"/>
          <p:cNvSpPr/>
          <p:nvPr/>
        </p:nvSpPr>
        <p:spPr>
          <a:xfrm>
            <a:off x="6138559" y="2459820"/>
            <a:ext cx="548640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루트(Root): 가장 위쪽의 노드. 트리 하나에 1개만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</a:t>
            </a:r>
            <a:endParaRPr lang="en-US" sz="1350" dirty="0">
              <a:solidFill>
                <a:srgbClr val="1A1A1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리프(Leaf): 자식이 없는 가장 아래쪽 노드 (= 단말 </a:t>
            </a:r>
            <a:r>
              <a:rPr lang="en-US" sz="1350" dirty="0" err="1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r>
              <a:rPr lang="en-US" sz="13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1350" dirty="0">
              <a:solidFill>
                <a:srgbClr val="FF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레벨(Level): 루트에서 해당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노드까지의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</a:t>
            </a:r>
            <a:endParaRPr lang="en-US" sz="1350" dirty="0">
              <a:solidFill>
                <a:srgbClr val="1A1A1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buSzPct val="100000"/>
            </a:pP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높이(Height): 루트에서 가장 먼 리프까지의 거리</a:t>
            </a:r>
            <a:endParaRPr lang="en-US" sz="135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735AA66B-10B3-29A2-D8F6-FF3F0CB5C06B}"/>
              </a:ext>
            </a:extLst>
          </p:cNvPr>
          <p:cNvSpPr/>
          <p:nvPr/>
        </p:nvSpPr>
        <p:spPr>
          <a:xfrm flipV="1">
            <a:off x="1746505" y="2523744"/>
            <a:ext cx="813812" cy="56692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A5394AA7-C140-D626-87C8-838783484945}"/>
              </a:ext>
            </a:extLst>
          </p:cNvPr>
          <p:cNvSpPr/>
          <p:nvPr/>
        </p:nvSpPr>
        <p:spPr>
          <a:xfrm flipV="1">
            <a:off x="475488" y="4535424"/>
            <a:ext cx="614234" cy="57536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1A99287A-9D9B-2355-DE5E-CB0E1D3405C5}"/>
              </a:ext>
            </a:extLst>
          </p:cNvPr>
          <p:cNvSpPr/>
          <p:nvPr/>
        </p:nvSpPr>
        <p:spPr>
          <a:xfrm flipV="1">
            <a:off x="1143004" y="3529584"/>
            <a:ext cx="471706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F0A1DAD4-5CA4-16D6-0358-8A7E75BEFBDA}"/>
              </a:ext>
            </a:extLst>
          </p:cNvPr>
          <p:cNvSpPr/>
          <p:nvPr/>
        </p:nvSpPr>
        <p:spPr>
          <a:xfrm>
            <a:off x="2331717" y="307238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179D1290-9327-4667-57D5-2F2618029DEE}"/>
              </a:ext>
            </a:extLst>
          </p:cNvPr>
          <p:cNvSpPr/>
          <p:nvPr/>
        </p:nvSpPr>
        <p:spPr>
          <a:xfrm>
            <a:off x="2331717" y="3072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AF5FF368-0DB8-80A6-9766-8756B3DB6A5A}"/>
              </a:ext>
            </a:extLst>
          </p:cNvPr>
          <p:cNvSpPr/>
          <p:nvPr/>
        </p:nvSpPr>
        <p:spPr>
          <a:xfrm>
            <a:off x="851977" y="512697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46A0C5AD-9B56-C1AB-FCAE-2DA523F46A34}"/>
              </a:ext>
            </a:extLst>
          </p:cNvPr>
          <p:cNvSpPr/>
          <p:nvPr/>
        </p:nvSpPr>
        <p:spPr>
          <a:xfrm>
            <a:off x="851977" y="512204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6BE1E30E-5592-B00C-9546-E9A6310ED0DF}"/>
              </a:ext>
            </a:extLst>
          </p:cNvPr>
          <p:cNvSpPr/>
          <p:nvPr/>
        </p:nvSpPr>
        <p:spPr>
          <a:xfrm>
            <a:off x="1476757" y="511923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B864BBA2-E245-2084-94FB-984CADF7C331}"/>
              </a:ext>
            </a:extLst>
          </p:cNvPr>
          <p:cNvSpPr/>
          <p:nvPr/>
        </p:nvSpPr>
        <p:spPr>
          <a:xfrm>
            <a:off x="1476757" y="5139983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DA6BA74E-9532-5269-93AC-3A67FC30C953}"/>
              </a:ext>
            </a:extLst>
          </p:cNvPr>
          <p:cNvSpPr/>
          <p:nvPr/>
        </p:nvSpPr>
        <p:spPr>
          <a:xfrm>
            <a:off x="3474720" y="3529584"/>
            <a:ext cx="0" cy="67911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1A415999-0BCA-F3B3-A2A7-976FD2F81A9F}"/>
              </a:ext>
            </a:extLst>
          </p:cNvPr>
          <p:cNvSpPr/>
          <p:nvPr/>
        </p:nvSpPr>
        <p:spPr>
          <a:xfrm>
            <a:off x="3241548" y="407822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FA89FC7B-E6D6-D4E5-3937-4E1C96C521AC}"/>
              </a:ext>
            </a:extLst>
          </p:cNvPr>
          <p:cNvSpPr/>
          <p:nvPr/>
        </p:nvSpPr>
        <p:spPr>
          <a:xfrm flipH="1">
            <a:off x="3502854" y="4553712"/>
            <a:ext cx="0" cy="6126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A8F913AD-B0EF-E7AC-D583-AFA0233C1A92}"/>
              </a:ext>
            </a:extLst>
          </p:cNvPr>
          <p:cNvSpPr/>
          <p:nvPr/>
        </p:nvSpPr>
        <p:spPr>
          <a:xfrm>
            <a:off x="3241548" y="51663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BD8BFB09-2404-E2C3-4CC9-06E6B0DC823B}"/>
              </a:ext>
            </a:extLst>
          </p:cNvPr>
          <p:cNvSpPr/>
          <p:nvPr/>
        </p:nvSpPr>
        <p:spPr>
          <a:xfrm>
            <a:off x="3241548" y="51614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1A209F23-ECAC-41BC-B7D4-6B2FD62F8B6E}"/>
              </a:ext>
            </a:extLst>
          </p:cNvPr>
          <p:cNvSpPr/>
          <p:nvPr/>
        </p:nvSpPr>
        <p:spPr>
          <a:xfrm>
            <a:off x="186751" y="512064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8A59D427-DFD3-636B-ABBA-6CC392EB9F0B}"/>
              </a:ext>
            </a:extLst>
          </p:cNvPr>
          <p:cNvSpPr/>
          <p:nvPr/>
        </p:nvSpPr>
        <p:spPr>
          <a:xfrm>
            <a:off x="186751" y="51157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</a:t>
            </a:r>
            <a:endParaRPr lang="en-US" sz="1300" dirty="0"/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9FE05CB2-9738-5F66-47DB-6E009E7D2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6858000"/>
            <a:ext cx="4090771" cy="3651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 트리 관련 용어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비단말 노드 (Non-terminal node)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리프를 제외한 노드 (루트 포함). 내부 노드라고도 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96012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96012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005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(Child)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1371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노드와 가지로 연결된 아래쪽 노드. 노드는 자식을 여러 개 가질 수 있음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8600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317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(Parent)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" y="2697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노드와 가지로 연결된 위쪽 노드. 부모는 반드시 1개. 루트는 부모 없음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8600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3317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 (Sibling)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부모를 가진 노드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1188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57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조상 (Ancestor)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" y="40233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노드에서 위쪽으로 가지를 따라가면 만나는 모든 노드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6118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1188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657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자손 (Descendant)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6520" y="40233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노드에서 아래쪽으로 가지를 따라가면 만나는 모든 노드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93776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9834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차수 (Degree)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436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갖는 자식의 수. 모든 노드의 차수가 n 이하이면 n진 트리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937760"/>
            <a:ext cx="73152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9834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서브트리 (Subtree)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4652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노드를 루트로 하고, 그 자손으로 구성된 트리</a:t>
            </a:r>
            <a:endParaRPr lang="en-US" sz="125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17F71A3F-55B8-F8C3-BE7B-24B33799B773}"/>
              </a:ext>
            </a:extLst>
          </p:cNvPr>
          <p:cNvSpPr/>
          <p:nvPr/>
        </p:nvSpPr>
        <p:spPr>
          <a:xfrm>
            <a:off x="365760" y="6263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dirty="0"/>
              <a:t>직접연결은 부모</a:t>
            </a:r>
            <a:r>
              <a:rPr lang="en-US" altLang="ko-KR" sz="2600" dirty="0"/>
              <a:t>, </a:t>
            </a:r>
            <a:r>
              <a:rPr lang="ko-KR" altLang="en-US" sz="2600" dirty="0"/>
              <a:t>자식</a:t>
            </a:r>
            <a:r>
              <a:rPr lang="en-US" altLang="ko-KR" sz="2600" dirty="0"/>
              <a:t>, </a:t>
            </a:r>
            <a:r>
              <a:rPr lang="ko-KR" altLang="en-US" sz="2600" dirty="0"/>
              <a:t>형제이며 조상 및 자손은 여러 단계까지 포함 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 순서 트리와 무순서 트리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트리의 2가지 분류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트리 (Ordered Tree)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 노드 사이에 순서 관계가 있는 트리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 flipH="1">
            <a:off x="1865376" y="2514600"/>
            <a:ext cx="420624" cy="8229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514600"/>
            <a:ext cx="457200" cy="8229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22768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2276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91056" y="30998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05456" y="30998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→ Z 순서가 의미 있음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a와 b는 서로 다른 트리로 구분됨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트리 · 이진 검색 트리는 모두 순서 트리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5303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무순서 트리 (Unordered Tree)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 노드 사이에 순서 관계가 없는 트리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 flipH="1">
            <a:off x="7772400" y="2514600"/>
            <a:ext cx="457200" cy="8229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514600"/>
            <a:ext cx="457200" cy="8229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91856" y="22768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1856" y="2276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34656" y="30998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49056" y="30998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→ Y 순서가 의미 없음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순서만 다르면 같은 트리로 취급됨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 순서 트리의 검색 ① — 너비 우선 검색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너비 우선 검색 (BFS: Breadth-First Search)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9106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우선 검색 · 가로 검색이라고도 함. 레벨(가로) 순서대로 왼쪽에서 </a:t>
            </a:r>
            <a:r>
              <a:rPr lang="en-US" sz="14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</a:t>
            </a: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순서대로 노드를 방문 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 flipH="1">
            <a:off x="4389120" y="2066544"/>
            <a:ext cx="1554480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066544"/>
            <a:ext cx="1554480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3108960" y="3072384"/>
            <a:ext cx="1280160" cy="78638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3072384"/>
            <a:ext cx="640080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766560" y="3072383"/>
            <a:ext cx="731520" cy="713233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072384"/>
            <a:ext cx="914400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2286000" y="4078224"/>
            <a:ext cx="822960" cy="685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4718304" y="4078224"/>
            <a:ext cx="277661" cy="63093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4943" y="4078224"/>
            <a:ext cx="340790" cy="6492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309360" y="4078224"/>
            <a:ext cx="457200" cy="63093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4078224"/>
            <a:ext cx="457200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5856" y="15910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1591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51376" y="25968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60336" y="25968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71216" y="36027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71216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91456" y="36027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28816" y="36027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74736" y="36027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048256" y="46085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4608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4584661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58466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41973" y="457657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1973" y="45765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30818" y="4618775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0818" y="461877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86016" y="46085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4608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50976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0976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0976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50976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394960"/>
            <a:ext cx="10972800" cy="502920"/>
          </a:xfrm>
          <a:prstGeom prst="rect">
            <a:avLst/>
          </a:prstGeom>
          <a:solidFill>
            <a:srgbClr val="F0F8FF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44982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순서: A → B → C → D → E → F → G → H → I → J → K → L</a:t>
            </a:r>
            <a:endParaRPr lang="en-US" sz="1400" dirty="0"/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07E58D63-FFC8-071B-6076-5107FAC20E75}"/>
              </a:ext>
            </a:extLst>
          </p:cNvPr>
          <p:cNvSpPr/>
          <p:nvPr/>
        </p:nvSpPr>
        <p:spPr>
          <a:xfrm>
            <a:off x="457200" y="6197977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50" dirty="0"/>
              <a:t>깊이 내려가기 전에 같은 레벨의 노드를 먼저 모두 확인</a:t>
            </a:r>
            <a:r>
              <a:rPr lang="en-US" altLang="ko-KR" sz="1450" dirty="0"/>
              <a:t>! </a:t>
            </a:r>
            <a:r>
              <a:rPr lang="ko-KR" altLang="en-US" sz="1450" dirty="0"/>
              <a:t>큐를 사용해서 구현하는 경우가 많음 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 순서 트리의 검색 ② — 깊이 우선 검색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 우선 검색 (DFS: Depth-First Search)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· 수직 검색. 리프까지 내려간 뒤 돌아오는 방식. 각 노드를 최대 3번 통과함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전위 순회 (Preorder)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방문 → 왼쪽 자식 → 오른쪽 자식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순서: A → B → D → H → I → E → J → C → F → K → L → 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1247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73152" cy="1417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 순회 (Inorder)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자식 → 노드 방문 → 오른쪽 자식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순서: H → D → I → B → J → E → A → K → F → L → C → 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89204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후위 순회 (Postorder)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자식 → 오른쪽 자식 → 노드 방문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623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순서: H → D → I → J → E → B → K → L → F → G → C → 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09-1   깊이 우선 검색 — 순회 방법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371600" y="1280160"/>
            <a:ext cx="457200" cy="8778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280160"/>
            <a:ext cx="457200" cy="9144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05840" y="2432304"/>
            <a:ext cx="36576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432304"/>
            <a:ext cx="36576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91056" y="10424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1042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33856" y="19568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48256" y="195681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" y="29626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99616" y="29626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9616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59723" y="1042416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1163" y="10424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순회 방법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5723" y="104241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7163" y="10424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순서 규칙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86203" y="1042416"/>
            <a:ext cx="282408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7643" y="10424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순서 (예시 트리)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59723" y="1499616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1163" y="149961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전위 순회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45723" y="1499616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7163" y="14996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방문 → 왼쪽 → 오른쪽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86203" y="1499616"/>
            <a:ext cx="282408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7643" y="149961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→ B → D → E → 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59723" y="2048256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1163" y="20482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 순회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45723" y="2048256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37163" y="20482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→ 노드 방문 → 오른쪽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86203" y="2048256"/>
            <a:ext cx="282408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77643" y="204825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→ B → E → A → 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59723" y="2596896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1163" y="25968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후위 순회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45723" y="2596896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7163" y="259689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→ 오른쪽 → 노드 방문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86203" y="2596896"/>
            <a:ext cx="282408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77643" y="25968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→ E → B → C → 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495604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트리를 중위 순회하면 → 키값의 오름차순으로 모든 노드를 방문할 수 있음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트리와 이진 검색 트리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트리 (Binary Tree)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왼쪽 자식(left child)과 오른쪽 자식(right child)만을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갖는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두 자식 중 하나 또는 둘 다 없는 노드가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있어도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됨. </a:t>
            </a:r>
            <a:r>
              <a:rPr lang="ko-KR" alt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</a:t>
            </a:r>
            <a:r>
              <a:rPr lang="en-US" altLang="ko-KR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트리는 자식이 최대 </a:t>
            </a:r>
            <a:r>
              <a:rPr lang="en-US" altLang="ko-KR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가지는 트리</a:t>
            </a:r>
            <a:r>
              <a:rPr lang="en-US" altLang="ko-KR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2567354" y="2788920"/>
            <a:ext cx="91440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1754" y="2788920"/>
            <a:ext cx="91440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146730" y="3794760"/>
            <a:ext cx="420624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7354" y="3794760"/>
            <a:ext cx="45720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938954" y="3794760"/>
            <a:ext cx="457200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6154" y="3794760"/>
            <a:ext cx="45720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790114" y="4800600"/>
            <a:ext cx="320040" cy="7589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3698" y="4809744"/>
            <a:ext cx="301752" cy="62179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2750234" y="4800600"/>
            <a:ext cx="274320" cy="62179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847514" y="4800600"/>
            <a:ext cx="91440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8954" y="4800600"/>
            <a:ext cx="457200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1442" y="235000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1442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57042" y="33558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7042" y="3355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85842" y="33558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5842" y="3355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99842" y="4361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99842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14242" y="4361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4242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8642" y="4361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8642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43042" y="4361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3042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579802" y="5367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9802" y="5367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549066" y="538581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9066" y="5385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97706" y="538581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7706" y="5385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28058" y="5367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28058" y="5367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22418" y="5367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2418" y="5367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2743200"/>
            <a:ext cx="512064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7889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B의 왼쪽 서브트리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09360" y="3799683"/>
            <a:ext cx="512064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765921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B의 오른쪽 서브트리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트리의 특징: 왼쪽 자식과 오른쪽 자식을 구분함 (순서 트리)</a:t>
            </a:r>
            <a:endParaRPr lang="en-US" sz="135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CD41517D-249F-38D9-F3F3-A4544A4E34CF}"/>
              </a:ext>
            </a:extLst>
          </p:cNvPr>
          <p:cNvSpPr/>
          <p:nvPr/>
        </p:nvSpPr>
        <p:spPr>
          <a:xfrm>
            <a:off x="6309360" y="5376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F0000"/>
                </a:solidFill>
              </a:rPr>
              <a:t>자식이 </a:t>
            </a:r>
            <a:r>
              <a:rPr lang="en-US" altLang="ko-KR" sz="1300" b="1" dirty="0">
                <a:solidFill>
                  <a:srgbClr val="FF0000"/>
                </a:solidFill>
              </a:rPr>
              <a:t>1</a:t>
            </a:r>
            <a:r>
              <a:rPr lang="ko-KR" altLang="en-US" sz="1300" b="1" dirty="0">
                <a:solidFill>
                  <a:srgbClr val="FF0000"/>
                </a:solidFill>
              </a:rPr>
              <a:t>개인 트리도 이진 트리 일까</a:t>
            </a:r>
            <a:r>
              <a:rPr lang="en-US" altLang="ko-KR" sz="1300" b="1" dirty="0">
                <a:solidFill>
                  <a:srgbClr val="FF0000"/>
                </a:solidFill>
              </a:rPr>
              <a:t>? </a:t>
            </a:r>
            <a:endParaRPr lang="en-US" sz="13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완전 이진 트리 (Complete Binary Tree)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1088136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루트부터 아래쪽 레벨로 노드가 가득 차 있고, 같은 레벨 안에서 왼쪽부터 오른쪽으로 노드가 채워진 이진 트리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레벨을 제외하고 모든 레벨에 노드가 가득 차 있음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레벨은 왼쪽부터 오른쪽으로 노드를 채우되, 반드시 끝까지 채우지 않아도 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3840480" y="3127248"/>
            <a:ext cx="1188720" cy="685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127248"/>
            <a:ext cx="1188720" cy="6035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3200400" y="4133088"/>
            <a:ext cx="640080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4133088"/>
            <a:ext cx="640080" cy="6035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5596128" y="4133088"/>
            <a:ext cx="621792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133088"/>
            <a:ext cx="640080" cy="6035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2834640" y="5138928"/>
            <a:ext cx="365760" cy="7315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5138928"/>
            <a:ext cx="274320" cy="6035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4169664" y="5138928"/>
            <a:ext cx="310896" cy="80467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5138928"/>
            <a:ext cx="274320" cy="6035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5376672" y="5138928"/>
            <a:ext cx="201168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72491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724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39312" y="37307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3730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16752" y="37307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730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99232" y="473659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4736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79392" y="473659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4736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76672" y="473659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4736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56832" y="473659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4736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33472" y="57424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73552" y="57424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913632" y="57424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13632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53712" y="57424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53712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193792" y="57424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93792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589520" y="2926080"/>
            <a:ext cx="4114800" cy="164592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인덱스와 1:1 대응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77240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너비 우선 검색 순서로 스캔하면서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노드에 0, 1, 2, … 를 부여하면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배열의 인덱스와 정확히 일치함</a:t>
            </a:r>
            <a:endParaRPr lang="en-US" sz="125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87821AED-3B9A-32CD-4AC0-C03D90FEDBD4}"/>
              </a:ext>
            </a:extLst>
          </p:cNvPr>
          <p:cNvSpPr/>
          <p:nvPr/>
        </p:nvSpPr>
        <p:spPr>
          <a:xfrm>
            <a:off x="6787896" y="5413248"/>
            <a:ext cx="5138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0000"/>
                </a:solidFill>
              </a:rPr>
              <a:t>중간이 비어 있으면  완전 이진 트리가 아님</a:t>
            </a:r>
            <a:r>
              <a:rPr lang="en-US" altLang="ko-KR" sz="1400" b="1" dirty="0">
                <a:solidFill>
                  <a:srgbClr val="FF0000"/>
                </a:solidFill>
              </a:rPr>
              <a:t>!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(Binary Search Tree)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1247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24128"/>
            <a:ext cx="108813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노드가 다음 조건을 만족하는 이진 트리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서브트리 노드의 키값 &lt; 자신의 키값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서브트리 노드의 키값 &gt;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키값</a:t>
            </a:r>
            <a:endParaRPr lang="en-US" sz="1350" dirty="0">
              <a:solidFill>
                <a:srgbClr val="1A1A1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sz="1350" dirty="0"/>
              <a:t>이진 트리에 정렬 조건을 추가한 구조 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 flipH="1">
            <a:off x="2734056" y="2633472"/>
            <a:ext cx="109728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31336" y="2633472"/>
            <a:ext cx="1097280" cy="58521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093976" y="3639312"/>
            <a:ext cx="64008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4056" y="3639312"/>
            <a:ext cx="640080" cy="58521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379976" y="3639312"/>
            <a:ext cx="548640" cy="80467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28616" y="3639312"/>
            <a:ext cx="548640" cy="58521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819656" y="4645152"/>
            <a:ext cx="274320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2952809" y="4645152"/>
            <a:ext cx="421327" cy="76809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4645152"/>
            <a:ext cx="457200" cy="58521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4297680" y="4666605"/>
            <a:ext cx="128016" cy="6035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3281" y="4654296"/>
            <a:ext cx="347472" cy="56692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9344" y="52303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9344" y="5230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83664" y="4224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83664" y="4224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3744" y="3218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06624" y="52303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5230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63824" y="4224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4224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21024" y="52303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5230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21024" y="22128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2212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077521" y="52303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77521" y="5230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69664" y="4224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9664" y="4224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80441" y="52303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0441" y="5230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18304" y="3218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66944" y="4224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6944" y="4224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68096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트리의 특징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8096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08392" y="2697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구조가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단순함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68096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708392" y="3364992"/>
            <a:ext cx="3995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순회로 키값을 오름차순으로 얻을 수 있음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68096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708392" y="4005072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검색과 비슷한 방식으로 빠르게 검색 가능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68096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744265" y="461314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삽입하기 쉬움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 순회 결과: 1 → 4 → 5 → 6 → 7 → 9 → 11 → 12 → 13 → 14 → 15 → 18   (오름차순 자동 정렬)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구현 — Node 클래스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클래스의 4가지 필드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self.key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타입: Any   —   키 (임의의 형)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17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7647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타입: Any   —   값 (임의의 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060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self.left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9535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타입: Node   —   왼쪽 자식 노드에 대한 참조 (왼쪽 포인터)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6060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self.right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9535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타입: Node   —   오른쪽 자식 노드에 대한 참조 (오른쪽 포인터)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11247120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947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실습 9-1 [A]  — Node 클래스 구현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"""이진 검색 트리의 노드"""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key: Any, value: Any,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left: Node = None, right: Node = None):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self.key   = key     # 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   # 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self.left  = left    # 왼쪽 포인터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self.right = right   # 오른쪽 포인터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BinarySearchTree: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"""이진 검색 트리"""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self.root = None   # 루트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검색 — search() 함수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알고리즘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r>
              <a:rPr lang="en-US" sz="140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루트에</a:t>
            </a: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주목. 주목 노드를 p 라고 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0676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p 가 None 이면 검색 실패 (키가 존재하지 않음)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0106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</a:t>
            </a:r>
            <a:r>
              <a:rPr lang="en-US" sz="140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검색할</a:t>
            </a: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key와 주목 노드 p의 키를 비교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42791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key = p.key → 검색 성공, 값 반환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312267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key &lt; p.key → 주목 노드를 왼쪽 자식으로 이동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3616804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key &gt; p.key → 주목 노드를 오른쪽 자식으로 이동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05840" y="41144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2번으로 돌아가 반복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 flipH="1">
            <a:off x="8833104" y="1581560"/>
            <a:ext cx="731520" cy="6492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64624" y="1581560"/>
            <a:ext cx="73152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8467344" y="2495960"/>
            <a:ext cx="365760" cy="6492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33104" y="2495960"/>
            <a:ext cx="36576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8961120" y="3410360"/>
            <a:ext cx="237744" cy="7223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96230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96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95360" y="2047904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2047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0" y="3876704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3876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961120" y="2962304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296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326880" y="1133504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0" y="11335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058400" y="204790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0" y="2047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43800" y="904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key=3 검색 과정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5에 주목. 3 &lt; 5 → 왼쪽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58000" y="5010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2에 주목. 3 &gt; 2 → 오른쪽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858000" y="54041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4에 주목. 3 &lt; 4 → 왼쪽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858000" y="57972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en-US" sz="1250" dirty="0" err="1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r>
              <a:rPr lang="en-US" sz="125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3에 주목. 3 = 3 → 검색 성공!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57200" y="4695444"/>
            <a:ext cx="5943600" cy="2148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786884"/>
            <a:ext cx="56692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search(self, key: Any) -&gt; Any: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self.root           # 루트에 주목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 is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None     # 검색 실패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== p.key: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p.value  # 검색 성공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key &lt; p.key: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 = p.left      # 왼쪽 서브트리에서 검색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 = p.right     # 오른쪽 서브트리에서 검색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검색 — 성공과 실패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성공: key=3 탐색 (4단계)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1792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실패: key=8 탐색 (2단계)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flipH="1">
            <a:off x="1383792" y="1914260"/>
            <a:ext cx="640080" cy="597525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3872" y="1914261"/>
            <a:ext cx="73152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60120" y="2828660"/>
            <a:ext cx="332232" cy="706903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2352" y="2828661"/>
            <a:ext cx="36576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383792" y="3743061"/>
            <a:ext cx="274320" cy="70127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8848" y="3295005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848" y="32950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4608" y="2380605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4608" y="23806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6048" y="4209405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6048" y="42094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20368" y="3295005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0368" y="32950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86128" y="1466205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6128" y="14662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17648" y="2380605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7648" y="23806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H="1">
            <a:off x="7498080" y="1908106"/>
            <a:ext cx="731520" cy="703737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908107"/>
            <a:ext cx="73152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223760" y="2822507"/>
            <a:ext cx="274320" cy="63990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2822507"/>
            <a:ext cx="36576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7626096" y="3736907"/>
            <a:ext cx="237744" cy="70127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94576" y="3288851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32888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60336" y="2374451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0336" y="23744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51776" y="4203251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42032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26096" y="3288851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6096" y="32888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91856" y="1460051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91856" y="14600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723376" y="2374451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23376" y="23744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26879" y="2384826"/>
            <a:ext cx="254273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검색실패</a:t>
            </a:r>
            <a:endParaRPr lang="en-US" sz="1400" b="1" dirty="0">
              <a:solidFill>
                <a:srgbClr val="CC000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</a:rPr>
              <a:t> - </a:t>
            </a:r>
            <a:r>
              <a:rPr lang="ko-KR" alt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</a:rPr>
              <a:t>더 스캔 할 수 없으므로 </a:t>
            </a:r>
            <a:endParaRPr lang="en-US" sz="1400" b="1" dirty="0"/>
          </a:p>
        </p:txBody>
      </p:sp>
      <p:sp>
        <p:nvSpPr>
          <p:cNvPr id="42" name="Shape 40"/>
          <p:cNvSpPr/>
          <p:nvPr/>
        </p:nvSpPr>
        <p:spPr>
          <a:xfrm>
            <a:off x="457200" y="5120640"/>
            <a:ext cx="112471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230368"/>
            <a:ext cx="108813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시간 복잡도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최선 / 평균: O(log n) — 균형 잡힌 트리에서 절반씩 범위 감소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최악: O(n) — 한쪽으로 치우친 트리 (편향 트리) 에서 선형 탐색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검색과 유사한 원리로 동작함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삽입 — add() 함수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 알고리즘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88136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삽입할 때도 검색과 같이 위치를 먼저 탐색한 뒤 수행해야 이진 검색 트리의 조건을 유지할 수 있음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같은 키가 존재하면 삽입하지 않고 False 반환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27044" y="23042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루트에 주목 (p)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0" y="257860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27044" y="292326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= p.key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47981" y="3005211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존재 → 삽입 실패 (False 반환)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4078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27044" y="36308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&lt; p.key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347981" y="3756777"/>
            <a:ext cx="25040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자식이 없으면 →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 삽입 / 있으면 → </a:t>
            </a:r>
          </a:p>
          <a:p>
            <a:pPr marL="0" indent="0">
              <a:buNone/>
            </a:pP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4828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27044" y="469720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&gt; p.key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47981" y="4697204"/>
            <a:ext cx="260721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자식이 없으면 →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 삽입 / 있으면 → </a:t>
            </a:r>
          </a:p>
          <a:p>
            <a:pPr marL="0" indent="0">
              <a:buNone/>
            </a:pP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이동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36806" y="2409795"/>
            <a:ext cx="6890238" cy="26939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add(self, key: Any, value: Any) -&gt; bool: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add_node(node, key, value):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== node.key:   return False       # 이미 존재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key &lt; node.key: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node.left is None:  node.left = Node(key, value, None, None)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add_node(node.left, key, value)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node.right is None: node.right = Node(key, value, None, None)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add_node(node.right, key, value)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self.root is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self.root = Node(key, value, None, None)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add_node(self.root, key, value)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삽입 — 과정 시각화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1을 삽입하는 과정 (2, 4, 6, 7로 구성된 트리)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 flipH="1">
            <a:off x="2021469" y="1796796"/>
            <a:ext cx="694943" cy="6492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16412" y="1796796"/>
            <a:ext cx="64008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6332" y="271119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38588" y="22539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8588" y="22539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87228" y="31683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7228" y="31683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78668" y="13395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668" y="13395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18748" y="225399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8748" y="22539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91116" y="3743061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1 삽입</a:t>
            </a:r>
            <a:endParaRPr lang="en-US" sz="1300" b="1" dirty="0"/>
          </a:p>
        </p:txBody>
      </p:sp>
      <p:sp>
        <p:nvSpPr>
          <p:cNvPr id="17" name="Shape 15"/>
          <p:cNvSpPr/>
          <p:nvPr/>
        </p:nvSpPr>
        <p:spPr>
          <a:xfrm flipH="1">
            <a:off x="2076332" y="4494276"/>
            <a:ext cx="640080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6412" y="4494276"/>
            <a:ext cx="64008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6332" y="540867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1710572" y="5408676"/>
            <a:ext cx="365760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2828" y="5865876"/>
            <a:ext cx="475488" cy="47548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72828" y="58658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38588" y="49514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38588" y="49514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87228" y="58658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7228" y="58658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78668" y="40370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668" y="40370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18748" y="49514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748" y="49514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914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5를 삽입하는 과정 (1, 2, 4, 6, 7로 구성된 트리)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 flipH="1">
            <a:off x="7589520" y="1636776"/>
            <a:ext cx="1097280" cy="66751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0" y="1636776"/>
            <a:ext cx="109728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7040880" y="2551176"/>
            <a:ext cx="548640" cy="66751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255117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51776" y="20939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90041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041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449056" y="11795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9056" y="1179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46336" y="20939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4633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5 삽입</a:t>
            </a:r>
            <a:endParaRPr lang="en-US" sz="1300" b="1" dirty="0"/>
          </a:p>
        </p:txBody>
      </p:sp>
      <p:sp>
        <p:nvSpPr>
          <p:cNvPr id="47" name="Shape 45"/>
          <p:cNvSpPr/>
          <p:nvPr/>
        </p:nvSpPr>
        <p:spPr>
          <a:xfrm flipH="1">
            <a:off x="7589520" y="4334256"/>
            <a:ext cx="1097280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0" y="4334256"/>
            <a:ext cx="109728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7040880" y="5248656"/>
            <a:ext cx="548640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89520" y="524865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12014" y="5943600"/>
            <a:ext cx="566225" cy="62179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03136" y="57058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3136" y="5705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351776" y="47914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1776" y="4791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900416" y="57058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0416" y="5705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540496" y="6345936"/>
            <a:ext cx="475488" cy="47548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40496" y="6345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449056" y="38770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49056" y="3877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546336" y="47914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46336" y="4791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삭제 — remove() 함수 개요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연산이 복잡한 이유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삭제한 뒤에도 이진 검색 트리의 조건을 유지해야 하므로 경우에 따라 처리가 다름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12471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0299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노드가 없는 노드를 삭제하는 경우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해당 포인터를 None으로 설정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112471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930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노드가 1개인 노드를 삭제하는 경우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9136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포인터가 삭제할 노드의 자식을 가리키도록 업데이트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846320"/>
            <a:ext cx="112471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3776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956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노드가 2개인 노드를 삭제하는 경우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37667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서브트리에서 키값이 가장 큰 노드를 찾아 삭제할 위치로 이동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7">
            <a:extLst>
              <a:ext uri="{FF2B5EF4-FFF2-40B4-BE49-F238E27FC236}">
                <a16:creationId xmlns:a16="http://schemas.microsoft.com/office/drawing/2014/main" id="{A9295882-227F-832B-94D5-348918B0A102}"/>
              </a:ext>
            </a:extLst>
          </p:cNvPr>
          <p:cNvSpPr/>
          <p:nvPr/>
        </p:nvSpPr>
        <p:spPr>
          <a:xfrm>
            <a:off x="3264056" y="3378708"/>
            <a:ext cx="521559" cy="8412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삭제 Case A — 자식 노드가 없는 경우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6862" y="82577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노드 3 삭제 (리프 노드)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H="1">
            <a:off x="914400" y="1636776"/>
            <a:ext cx="914400" cy="6492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636776"/>
            <a:ext cx="91440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65760" y="2551176"/>
            <a:ext cx="548640" cy="74066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5117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2459736"/>
            <a:ext cx="313710" cy="6126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14400" y="3465576"/>
            <a:ext cx="548640" cy="66751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346557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" y="20939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" y="3922776"/>
            <a:ext cx="475488" cy="475488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2529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73936" y="39227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3936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591056" y="11795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91056" y="1179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05456" y="20939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6265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6265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11296" y="39227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3을 찾아 멈춤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en-US" sz="12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</a:t>
            </a: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4의 왼쪽 포인터 → None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후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40080" y="5733288"/>
            <a:ext cx="10881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삭제할 노드가 부모 노드의 왼쪽 자식이면: 부모의 왼쪽 포인터를 None으로 함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삭제할 노드가 부모 노드의 오른쪽 자식이면: 부모의 오른쪽 포인터를 None으로 함</a:t>
            </a:r>
            <a:endParaRPr lang="en-US" sz="1350" dirty="0"/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8D7C7CA3-C4E7-7FB8-954F-E2196BDA1A79}"/>
              </a:ext>
            </a:extLst>
          </p:cNvPr>
          <p:cNvSpPr/>
          <p:nvPr/>
        </p:nvSpPr>
        <p:spPr>
          <a:xfrm>
            <a:off x="9994040" y="3387852"/>
            <a:ext cx="521559" cy="8412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6" name="Shape 3">
            <a:extLst>
              <a:ext uri="{FF2B5EF4-FFF2-40B4-BE49-F238E27FC236}">
                <a16:creationId xmlns:a16="http://schemas.microsoft.com/office/drawing/2014/main" id="{013C6056-37C0-05AB-718A-3836E3E2E2E1}"/>
              </a:ext>
            </a:extLst>
          </p:cNvPr>
          <p:cNvSpPr/>
          <p:nvPr/>
        </p:nvSpPr>
        <p:spPr>
          <a:xfrm flipH="1">
            <a:off x="7644384" y="1645920"/>
            <a:ext cx="914400" cy="6492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7" name="Shape 4">
            <a:extLst>
              <a:ext uri="{FF2B5EF4-FFF2-40B4-BE49-F238E27FC236}">
                <a16:creationId xmlns:a16="http://schemas.microsoft.com/office/drawing/2014/main" id="{AE38189D-990B-4D9F-0114-36AFD677EEE2}"/>
              </a:ext>
            </a:extLst>
          </p:cNvPr>
          <p:cNvSpPr/>
          <p:nvPr/>
        </p:nvSpPr>
        <p:spPr>
          <a:xfrm>
            <a:off x="8558784" y="1645920"/>
            <a:ext cx="91440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8" name="Shape 5">
            <a:extLst>
              <a:ext uri="{FF2B5EF4-FFF2-40B4-BE49-F238E27FC236}">
                <a16:creationId xmlns:a16="http://schemas.microsoft.com/office/drawing/2014/main" id="{2041BB7A-D425-AE28-D8FF-6613C60B54EE}"/>
              </a:ext>
            </a:extLst>
          </p:cNvPr>
          <p:cNvSpPr/>
          <p:nvPr/>
        </p:nvSpPr>
        <p:spPr>
          <a:xfrm flipH="1">
            <a:off x="7095744" y="2560320"/>
            <a:ext cx="548640" cy="74066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9" name="Shape 6">
            <a:extLst>
              <a:ext uri="{FF2B5EF4-FFF2-40B4-BE49-F238E27FC236}">
                <a16:creationId xmlns:a16="http://schemas.microsoft.com/office/drawing/2014/main" id="{6438654B-10FB-1120-9605-2F29FE5DE37E}"/>
              </a:ext>
            </a:extLst>
          </p:cNvPr>
          <p:cNvSpPr/>
          <p:nvPr/>
        </p:nvSpPr>
        <p:spPr>
          <a:xfrm>
            <a:off x="7644384" y="2560320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0" name="Shape 7">
            <a:extLst>
              <a:ext uri="{FF2B5EF4-FFF2-40B4-BE49-F238E27FC236}">
                <a16:creationId xmlns:a16="http://schemas.microsoft.com/office/drawing/2014/main" id="{9723433D-A9AA-18FC-E9B3-FBB6AAF812E3}"/>
              </a:ext>
            </a:extLst>
          </p:cNvPr>
          <p:cNvSpPr/>
          <p:nvPr/>
        </p:nvSpPr>
        <p:spPr>
          <a:xfrm>
            <a:off x="9546336" y="2468880"/>
            <a:ext cx="313710" cy="6126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2" name="Shape 9">
            <a:extLst>
              <a:ext uri="{FF2B5EF4-FFF2-40B4-BE49-F238E27FC236}">
                <a16:creationId xmlns:a16="http://schemas.microsoft.com/office/drawing/2014/main" id="{0861836B-3A6A-3AAE-B4B6-05697E09C8AB}"/>
              </a:ext>
            </a:extLst>
          </p:cNvPr>
          <p:cNvSpPr/>
          <p:nvPr/>
        </p:nvSpPr>
        <p:spPr>
          <a:xfrm>
            <a:off x="8193024" y="3474720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3" name="Shape 11">
            <a:extLst>
              <a:ext uri="{FF2B5EF4-FFF2-40B4-BE49-F238E27FC236}">
                <a16:creationId xmlns:a16="http://schemas.microsoft.com/office/drawing/2014/main" id="{E7C4B0DE-8F58-CE3A-0228-C95B17D266F5}"/>
              </a:ext>
            </a:extLst>
          </p:cNvPr>
          <p:cNvSpPr/>
          <p:nvPr/>
        </p:nvSpPr>
        <p:spPr>
          <a:xfrm>
            <a:off x="6858000" y="30175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4" name="Text 12">
            <a:extLst>
              <a:ext uri="{FF2B5EF4-FFF2-40B4-BE49-F238E27FC236}">
                <a16:creationId xmlns:a16="http://schemas.microsoft.com/office/drawing/2014/main" id="{7E5FB22C-C089-8CA2-F123-F0AC4A4FF487}"/>
              </a:ext>
            </a:extLst>
          </p:cNvPr>
          <p:cNvSpPr/>
          <p:nvPr/>
        </p:nvSpPr>
        <p:spPr>
          <a:xfrm>
            <a:off x="685800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5" name="Shape 13">
            <a:extLst>
              <a:ext uri="{FF2B5EF4-FFF2-40B4-BE49-F238E27FC236}">
                <a16:creationId xmlns:a16="http://schemas.microsoft.com/office/drawing/2014/main" id="{F014400C-F890-4E69-D756-D73A1675B04D}"/>
              </a:ext>
            </a:extLst>
          </p:cNvPr>
          <p:cNvSpPr/>
          <p:nvPr/>
        </p:nvSpPr>
        <p:spPr>
          <a:xfrm>
            <a:off x="7406640" y="21031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6" name="Text 14">
            <a:extLst>
              <a:ext uri="{FF2B5EF4-FFF2-40B4-BE49-F238E27FC236}">
                <a16:creationId xmlns:a16="http://schemas.microsoft.com/office/drawing/2014/main" id="{142F3EB2-FD60-076C-A606-C89512DA95E0}"/>
              </a:ext>
            </a:extLst>
          </p:cNvPr>
          <p:cNvSpPr/>
          <p:nvPr/>
        </p:nvSpPr>
        <p:spPr>
          <a:xfrm>
            <a:off x="7406640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99" name="Shape 17">
            <a:extLst>
              <a:ext uri="{FF2B5EF4-FFF2-40B4-BE49-F238E27FC236}">
                <a16:creationId xmlns:a16="http://schemas.microsoft.com/office/drawing/2014/main" id="{ECAB5038-D1DF-CEF7-06BF-8CC150904521}"/>
              </a:ext>
            </a:extLst>
          </p:cNvPr>
          <p:cNvSpPr/>
          <p:nvPr/>
        </p:nvSpPr>
        <p:spPr>
          <a:xfrm>
            <a:off x="7955280" y="30175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68B096BF-7054-B8DE-6820-43C193140B4C}"/>
              </a:ext>
            </a:extLst>
          </p:cNvPr>
          <p:cNvSpPr/>
          <p:nvPr/>
        </p:nvSpPr>
        <p:spPr>
          <a:xfrm>
            <a:off x="795528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01" name="Shape 19">
            <a:extLst>
              <a:ext uri="{FF2B5EF4-FFF2-40B4-BE49-F238E27FC236}">
                <a16:creationId xmlns:a16="http://schemas.microsoft.com/office/drawing/2014/main" id="{CA348116-D834-DA13-59C3-D239581B1F4C}"/>
              </a:ext>
            </a:extLst>
          </p:cNvPr>
          <p:cNvSpPr/>
          <p:nvPr/>
        </p:nvSpPr>
        <p:spPr>
          <a:xfrm>
            <a:off x="8503920" y="39319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2" name="Text 20">
            <a:extLst>
              <a:ext uri="{FF2B5EF4-FFF2-40B4-BE49-F238E27FC236}">
                <a16:creationId xmlns:a16="http://schemas.microsoft.com/office/drawing/2014/main" id="{56EDBD9B-4C40-C620-2187-63DE62EB5A51}"/>
              </a:ext>
            </a:extLst>
          </p:cNvPr>
          <p:cNvSpPr/>
          <p:nvPr/>
        </p:nvSpPr>
        <p:spPr>
          <a:xfrm>
            <a:off x="8503920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103" name="Shape 21">
            <a:extLst>
              <a:ext uri="{FF2B5EF4-FFF2-40B4-BE49-F238E27FC236}">
                <a16:creationId xmlns:a16="http://schemas.microsoft.com/office/drawing/2014/main" id="{5032A5B4-CB96-63A2-CD04-155931032CCB}"/>
              </a:ext>
            </a:extLst>
          </p:cNvPr>
          <p:cNvSpPr/>
          <p:nvPr/>
        </p:nvSpPr>
        <p:spPr>
          <a:xfrm>
            <a:off x="8321040" y="11887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EA9E41A0-AB0C-03CE-645A-222AC323429E}"/>
              </a:ext>
            </a:extLst>
          </p:cNvPr>
          <p:cNvSpPr/>
          <p:nvPr/>
        </p:nvSpPr>
        <p:spPr>
          <a:xfrm>
            <a:off x="8321040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105" name="Shape 23">
            <a:extLst>
              <a:ext uri="{FF2B5EF4-FFF2-40B4-BE49-F238E27FC236}">
                <a16:creationId xmlns:a16="http://schemas.microsoft.com/office/drawing/2014/main" id="{08EEA33E-B8E4-6315-8149-9CCED9F0C1C1}"/>
              </a:ext>
            </a:extLst>
          </p:cNvPr>
          <p:cNvSpPr/>
          <p:nvPr/>
        </p:nvSpPr>
        <p:spPr>
          <a:xfrm>
            <a:off x="9235440" y="21031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BEAFD98D-F428-DDF3-DF9A-A02EF55AEDAB}"/>
              </a:ext>
            </a:extLst>
          </p:cNvPr>
          <p:cNvSpPr/>
          <p:nvPr/>
        </p:nvSpPr>
        <p:spPr>
          <a:xfrm>
            <a:off x="9235440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107" name="Shape 25">
            <a:extLst>
              <a:ext uri="{FF2B5EF4-FFF2-40B4-BE49-F238E27FC236}">
                <a16:creationId xmlns:a16="http://schemas.microsoft.com/office/drawing/2014/main" id="{A33403D3-17B2-D714-AE0B-EB2099867227}"/>
              </a:ext>
            </a:extLst>
          </p:cNvPr>
          <p:cNvSpPr/>
          <p:nvPr/>
        </p:nvSpPr>
        <p:spPr>
          <a:xfrm>
            <a:off x="9692640" y="30175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8" name="Text 26">
            <a:extLst>
              <a:ext uri="{FF2B5EF4-FFF2-40B4-BE49-F238E27FC236}">
                <a16:creationId xmlns:a16="http://schemas.microsoft.com/office/drawing/2014/main" id="{D0C11733-1B89-5A62-038A-A7A2CFDDCAAE}"/>
              </a:ext>
            </a:extLst>
          </p:cNvPr>
          <p:cNvSpPr/>
          <p:nvPr/>
        </p:nvSpPr>
        <p:spPr>
          <a:xfrm>
            <a:off x="969264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109" name="Shape 27">
            <a:extLst>
              <a:ext uri="{FF2B5EF4-FFF2-40B4-BE49-F238E27FC236}">
                <a16:creationId xmlns:a16="http://schemas.microsoft.com/office/drawing/2014/main" id="{B796C6AF-FBF6-E605-A28C-D62DF5BA45F7}"/>
              </a:ext>
            </a:extLst>
          </p:cNvPr>
          <p:cNvSpPr/>
          <p:nvPr/>
        </p:nvSpPr>
        <p:spPr>
          <a:xfrm>
            <a:off x="10241280" y="393192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0" name="Text 28">
            <a:extLst>
              <a:ext uri="{FF2B5EF4-FFF2-40B4-BE49-F238E27FC236}">
                <a16:creationId xmlns:a16="http://schemas.microsoft.com/office/drawing/2014/main" id="{E896E77B-2F4A-231A-163A-B86A2E1E7431}"/>
              </a:ext>
            </a:extLst>
          </p:cNvPr>
          <p:cNvSpPr/>
          <p:nvPr/>
        </p:nvSpPr>
        <p:spPr>
          <a:xfrm>
            <a:off x="10241280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삭제 Case B — 자식 노드가 1개인 경우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노드 7 삭제 (자식 1개: 노드 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H="1">
            <a:off x="1737712" y="1737360"/>
            <a:ext cx="914400" cy="6949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2112" y="1737360"/>
            <a:ext cx="91440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89072" y="2651760"/>
            <a:ext cx="548640" cy="69037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712" y="2651760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810864" y="3566160"/>
            <a:ext cx="475488" cy="69037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352" y="3566160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512" y="2651760"/>
            <a:ext cx="1005840" cy="13898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1328" y="31089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328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99968" y="2194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9968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99968" y="40233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968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48608" y="31089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8608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97248" y="40233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7248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14368" y="12801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14368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28768" y="2194560"/>
            <a:ext cx="475488" cy="475488"/>
          </a:xfrm>
          <a:prstGeom prst="ellipse">
            <a:avLst/>
          </a:prstGeom>
          <a:solidFill>
            <a:srgbClr val="2196F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768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85968" y="31089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85968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34608" y="40233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4608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9514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부모(6)의 오른쪽 포인터를 노드 7의 자식(8)을 가리키도록 업데이트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flipH="1">
            <a:off x="7772400" y="1636776"/>
            <a:ext cx="914400" cy="69037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636776"/>
            <a:ext cx="91440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7296912" y="2551176"/>
            <a:ext cx="475488" cy="67208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255117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0" y="2551176"/>
            <a:ext cx="45720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7845552" y="3465576"/>
            <a:ext cx="475488" cy="69951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3465576"/>
            <a:ext cx="548640" cy="47548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8601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534656" y="20939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3465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534656" y="39227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34656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8329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8329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631936" y="39227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31936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449056" y="11795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49056" y="1179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363456" y="2093976"/>
            <a:ext cx="475488" cy="47548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63456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20656" y="300837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20656" y="3008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0080" y="5733288"/>
            <a:ext cx="10881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삭제할 노드가 부모의 왼쪽 자식이면: 부모의 왼쪽 포인터 → 삭제 노드의 자식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삭제할 노드가 부모의 오른쪽 자식이면: 부모의 오른쪽 포인터 → 삭제 노드의 자식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삭제 Case C — 자식 노드가 2개인 경우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노드 5 삭제 (왼쪽 자식: 2루트 서브트리, 오른쪽 자식: 10)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삭제할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노드의 왼쪽 서브트리에서 키값이 가장 큰 노드를 검색 (= 왼쪽 서브트리의 가장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bst</a:t>
            </a:r>
            <a:r>
              <a:rPr lang="ko-KR" alt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조건 유지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20299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검색한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노드의 데이터를 삭제할 노드 위치에 복사함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600765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</a:t>
            </a:r>
            <a:r>
              <a:rPr lang="en-US" sz="13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복사한</a:t>
            </a: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노드를 원래 위치에서 삭제 (Case A 또는 B 방식으로 처리)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flipH="1">
            <a:off x="1632556" y="3561236"/>
            <a:ext cx="978408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0964" y="3561236"/>
            <a:ext cx="109728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873604" y="4475636"/>
            <a:ext cx="640080" cy="53035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3684" y="4475636"/>
            <a:ext cx="64008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8244" y="4475635"/>
            <a:ext cx="548638" cy="731519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84316" y="5207154"/>
            <a:ext cx="521208" cy="67665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52396" y="5390036"/>
            <a:ext cx="521208" cy="6400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604" y="5390036"/>
            <a:ext cx="54864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2025748" y="5390036"/>
            <a:ext cx="128016" cy="6400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53764" y="5390036"/>
            <a:ext cx="54864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652" y="58838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652" y="58838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3292" y="49694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292" y="49694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11932" y="5883812"/>
            <a:ext cx="420624" cy="420624"/>
          </a:xfrm>
          <a:prstGeom prst="ellipse">
            <a:avLst/>
          </a:prstGeom>
          <a:solidFill>
            <a:srgbClr val="E8772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1932" y="58838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303372" y="4055012"/>
            <a:ext cx="420624" cy="420624"/>
          </a:xfrm>
          <a:prstGeom prst="ellipse">
            <a:avLst/>
          </a:prstGeom>
          <a:solidFill>
            <a:srgbClr val="2E7D3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3372" y="40550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760572" y="58838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60572" y="58838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943452" y="49694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43452" y="49694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492092" y="58838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2092" y="58838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400652" y="31406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00652" y="31406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97932" y="40550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7932" y="40550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046572" y="49694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46572" y="49694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95212" y="58838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5212" y="58838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852012" y="6536903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4 (왼쪽 서브트리 최대)</a:t>
            </a:r>
            <a:endParaRPr lang="en-US" sz="1100" b="1" dirty="0"/>
          </a:p>
        </p:txBody>
      </p:sp>
      <p:sp>
        <p:nvSpPr>
          <p:cNvPr id="47" name="Shape 45"/>
          <p:cNvSpPr/>
          <p:nvPr/>
        </p:nvSpPr>
        <p:spPr>
          <a:xfrm flipH="1">
            <a:off x="8037928" y="3613464"/>
            <a:ext cx="1097280" cy="7223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35208" y="3613464"/>
            <a:ext cx="109728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7397848" y="4527864"/>
            <a:ext cx="640080" cy="67665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37928" y="4527864"/>
            <a:ext cx="64008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32488" y="4335840"/>
            <a:ext cx="548640" cy="86868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81128" y="5296310"/>
            <a:ext cx="548640" cy="75367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6849208" y="5442264"/>
            <a:ext cx="548640" cy="67665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97848" y="5442264"/>
            <a:ext cx="54864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8531704" y="5442264"/>
            <a:ext cx="146304" cy="685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78008" y="5442264"/>
            <a:ext cx="548640" cy="493776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38896" y="59360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896" y="593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187536" y="50216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87536" y="502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36176" y="59360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36176" y="593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827616" y="4107240"/>
            <a:ext cx="420624" cy="420624"/>
          </a:xfrm>
          <a:prstGeom prst="ellipse">
            <a:avLst/>
          </a:prstGeom>
          <a:solidFill>
            <a:srgbClr val="2E7D3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27616" y="4107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284816" y="59360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84816" y="593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467696" y="50216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67696" y="502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016336" y="59360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16336" y="593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924896" y="31928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24896" y="3192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0022176" y="41072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22176" y="4107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0570816" y="50216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70816" y="502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1119456" y="593604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119456" y="593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8385048" y="273581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후 (5→4 교체)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삭제 구현 — remove() 함수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10972800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remove(self, key: Any) -&gt; bool: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self.root;  parent = None;  is_left_child =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                    # 삭제할 키를 검색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 is None: return False # 키가 없음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== p.key: break     # 발견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 = 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&lt; p.key: is_left_child = True;  p = p.left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is_left_child = False; p = p.right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p.left is None:             # Case A / B (왼쪽 자식 없음)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 is self.root: self.root = p.right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is_left_child: parent.left = p.right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 parent.right = p.right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p.right is None:          # Case B (오른쪽 자식 없음)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 is self.root: self.root = p.left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is_left_child: parent.left = p.left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 parent.right = p.left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        # Case C (자식 2개)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 = p;  left = p.left;  is_left_child =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left.right is not None:  # 왼쪽 서브트리의 최댓값 탐색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parent = left;  left = left.right;  is_left_child = 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p.key = left.key;  p.value = left.value  # 복사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is_left_child: parent.left = left.left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parent.right = left.left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기타 함수 — dump / min_key / max_key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dump() — 모든 노드를 오름차순으로 출력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 순회(Inorder)를 이용해 키의 오름차순으로 모든 노드를 출력하는 함수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dump(self) -&gt;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print_subtree(node):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 is not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print_subtree(node.left)         # 왼쪽 서브트리 (오름차순)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print(f'{node.key}  {node.value}')  # 현재 노드 출력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print_subtree(node.right)        # 오른쪽 서브트리 (오름차순)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print_subtree(self.root)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min_key() / max_key() — 최소 · 최대 키 반환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13308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트리에서 가장 왼쪽 끝 = 최솟값 / 가장 오른쪽 끝 = 최댓값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4645152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min_key(self) -&gt; Any: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self.root is None: return None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self.root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p.left is not None:  p = p.left   # 계속 왼쪽으로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p.key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max_key(self) -&gt; Any: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self.root is None: return None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self.root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p.right is not None: p = p.right  # 계속 오른쪽으로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p.key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— 연산 정리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77440" y="9601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60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방식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17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search(key)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141732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4173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173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루트에서 키 대소를 비교하며 탐색. 성공 시 값 반환, 실패 시 None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14884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48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add(key, val)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214884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삽입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214884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1488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동일한 방식으로 위치를 찾아 리프에 노드 추가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remove(key)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288036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880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288036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803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 수에 따라 3가지 경우로 처리. 트리 구조 유지 필요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dump()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77440" y="361188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출력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361188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6118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 순회로 모든 노드를 키의 오름차순으로 출력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434340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343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min_key()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77440" y="434340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43434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최솟값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0" y="434340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3434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루트에서 계속 왼쪽 자식을 따라가면 최솟값 도달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507492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074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max_key()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377440" y="507492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0" y="50749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최댓값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0" y="50749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50749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루트에서 계속 오른쪽 자식을 따라가면 최댓값 도달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65760" y="5897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h = 트리의 높이. 균형 잡힌 트리에서 h = O(log n)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65760" y="6419088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트리는 검색·삽입·삭제 모두 평균 O(log n) — 효율적인 동적 탐색 자료구조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삭제 Case A / B — 코드 흐름 상세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A (왼쪽 자식 없음) + Case B (오른쪽 자식 없음) — 같은 코드로 처리 가능한 이유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247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08813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A (자식 없음): 삭제 노드의 왼쪽 포인터 = None → 오른쪽도 None → p.right = None 대입하면 끝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B (자식 1개, 왼쪽만 없음): 오른쪽 자식만 존재 → 부모가 p.right를 직접 가리키면 됨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Case A와 B (왼쪽 없음 경우)를 if p.left is None 한 블록으로 처리 가능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09728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p.left is None  →  Case A / Case B (왼쪽 없음) 통합 처리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p.left is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 is self.root:        # 삭제 노드가 루트인 경우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self.root = p.right   #   오른쪽 자식을 새 루트로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is_left_child:       # 삭제 노드가 부모의 왼쪽 자식이면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parent.left = p.right #   부모의 왼쪽 → p의 오른쪽 자식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   # 삭제 노드가 부모의 오른쪽 자식이면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parent.right = p.right#   부모의 오른쪽 → p의 오른쪽 자식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Case A일 때: p.right = None → parent.left = None (포인터 끊기)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Case B일 때: p.right = 자식 → parent.left = 자식 (포인터 연결)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elif p.right is None  →  Case B (오른쪽 없음) 처리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p.right is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 is self.root:        # 루트 삭제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self.root = p.left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is_left_child: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parent.left = p.left  # 부모의 왼쪽 → p의 왼쪽 자식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parent.right = p.left # 부모의 오른쪽 → p의 왼쪽 자식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7874" y="3008376"/>
            <a:ext cx="4885006" cy="7132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삭제 노드의 자리에 남은 자식을 이어 붙이면 됨. </a:t>
            </a:r>
          </a:p>
          <a:p>
            <a:pPr marL="0" indent="0">
              <a:buNone/>
            </a:pPr>
            <a:r>
              <a:rPr lang="en-US" sz="1350" b="1" dirty="0" err="1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자식이</a:t>
            </a: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None이면 포인터가 None이 되어 Case A처럼 동작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트리의 종류 총정리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3035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트리 (Binary Tree)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(binary tree)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자식을 최대 2개 가짐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자식 / 오른쪽 자식을 명확히 구분 (순서 트리)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자식 중 없는 것이 있어도 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가장 기본적인 형태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53035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05840"/>
            <a:ext cx="530352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143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이진 트리 (Complete Binary Tree)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(complete binary tree)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루트부터 빈 칸 없이 왼쪽부터 노드를 채움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레벨만 오른쪽이 비어도 됨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인덱스와 1:1 대응 → 힙(Heap)에 활용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15468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높이 = ⌊log₂n⌋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3035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40480"/>
            <a:ext cx="530352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77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검색 트리 (Binary Search Tree)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(binary search tree, BST)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서브트리 &lt; 부모 &lt; 오른쪽 서브트리 (키 기준)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 순회 → 오름차순 출력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검색·삽입·삭제 평균 O(log n)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98932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0167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동적 탐색에 최적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840480"/>
            <a:ext cx="53035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840480"/>
            <a:ext cx="530352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77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이진 검색 트리 (Balanced BST)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4652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(self-balancing search tree)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6634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편향을 방지하여 높이를 항상 O(log n)으로 유지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종류: AVL 트리, 레드·블랙 트리, B 트리 등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언어 라이브러리에서 사용 (Java TreeMap 등)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46520" y="598932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60167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최악에도 O(log n) 보장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09-2   이진 검색 트리 — 실생활 활용 사례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02920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자료구조가 쓰이는 곳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1600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시스템 디렉토리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윈도우·리눅스의 파일 탐색기. 폴더(노드)와 파일 경로(가지)로 구성된 트리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937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42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/ → home → user → documents → 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17320"/>
            <a:ext cx="64008" cy="1600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인덱스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189280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MySQL, PostgreSQL 등 DB의 B-Tree 인덱스. 수천만 건 데이터에서 O(log n) 검색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514600"/>
            <a:ext cx="4937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542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WHERE id = 12345 → 인덱스 트리 탐색 (수 ms)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64008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라이브러리 정렬 컬렉션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sortedcontainers, Java TreeMap/TreeSet, C++ std::map — 내부적으로 레드·블랙 트리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4937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25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TreeMap.put(key, value) → O(log n) 삽입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20040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291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/ 맞춤법 검사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92240" y="36758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트라이(Trie) 트리를 사용해 접두어 검색. 검색창 자동완성, 맞춤법 검사기에 활용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325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"da" 입력 → data, database, datetime … 빠른 제안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98348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983480"/>
            <a:ext cx="64008" cy="1600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0749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라우팅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54589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주소 검색 테이블을 이진 트리/트라이로 구성. 가장 긴 접두어 일치 탐색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080760"/>
            <a:ext cx="4937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108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192.168.1.x → 해당 서브넷 라우팅 경로 O(log n)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498348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4983480"/>
            <a:ext cx="64008" cy="1600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0749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96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수식 파싱 (Expression Tree)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92240" y="54589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컴파일러/인터프리터에서 수식을 이진 트리로 표현. 후위 순회로 계산 수행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6080760"/>
            <a:ext cx="4937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6108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(3+4)*2 → 트리 후위 순회 → 3 4 + 2 *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3735</Words>
  <Application>Microsoft Office PowerPoint</Application>
  <PresentationFormat>와이드스크린</PresentationFormat>
  <Paragraphs>589</Paragraphs>
  <Slides>26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기홍 신</cp:lastModifiedBy>
  <cp:revision>34</cp:revision>
  <dcterms:created xsi:type="dcterms:W3CDTF">2026-05-25T08:23:01Z</dcterms:created>
  <dcterms:modified xsi:type="dcterms:W3CDTF">2026-05-25T15:43:56Z</dcterms:modified>
</cp:coreProperties>
</file>