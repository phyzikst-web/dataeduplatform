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5주차: 자료구조의 두 기둥, 스택(Stack)과 큐(Queue)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과목명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자료구조 (Data Structures)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대상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IT융합학과 1학년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교수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대한민국 1타 강사 스타일의 명쾌한 강의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2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1. 오늘의 여정: 왜 스택과 큐인가?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우리가 매일 쓰는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되돌리기(Ctrl+Z)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와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줄서기(맛집 대기)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의 비밀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데이터를 그냥 쌓아두는 것이 아닌,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우아하게 정돈하는 규칙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의 시작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알고리즘 시험과 기술 면접에서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무조건 출제되는 0순위 핵심 개념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컴퓨터 공학의 기초 체력을 기르는 가장 중요한 관문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3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2. 스택(Stack)의 본질: 후입선출(LIFO)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후입선출(LIFO, Last-In First-Out)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가장 마지막에 들어온 데이터가 가장 먼저 나가는 구조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시간적 제약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데이터의 삽입과 삭제가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한쪽 끝(Top)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에서만 일어남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실생활의 비유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좁은 통 속에 차곡차곡 쌓아 올린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프링글스 과자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또는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차곡차곡 쌓인 접시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  <a:highlight>
                  <a:srgbClr val="FEF2F2"/>
                </a:highlight>
              </a:rPr>
              <a:t>[그림 설명: 원통 모양의 스택 구조에 데이터가 위에서부터 아래로 쌓이는 모습의 일러스트. 가장 아래에 'First-In', 가장 위에 'Last-Out'이 적혀 있어 직관적으로 이해할 수 있는 다이어그램]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4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3. 스택의 핵심 연산 (Operations)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`push()`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스택의 가장 위에 새로운 데이터를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추가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하는 연산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`pop()`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스택의 가장 위에 있는 데이터를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제거하고 반환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하는 연산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`peek() / top()`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데이터를 꺼내지 않고, 가장 위에 무엇이 있는지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확인만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하는 연산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`isEmpty()`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현재 스택이 비어있는지 여부를 확인하여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오류를 방지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하는 연산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5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4. 스택 시각화: 데이터의 흐름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데이터를 넣고 빼는 과정의 직관적 이해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  <a:highlight>
                  <a:srgbClr val="FEF2F2"/>
                </a:highlight>
              </a:rPr>
              <a:t>[그림 설명: 3단계의 스택 변화 과정을 보여주는 좌우 나열식 다이어그램.</a:t>
            </a:r>
            <a:endParaRPr lang="en-US" sz="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highlight>
                  <a:srgbClr val="F3F4F6"/>
                </a:highlight>
              </a:rPr>
              <a:t>1단계: 빈 스택에 'A', 'B'가 차례로 들어간 상태 (Top은 B를 가리킴).</a:t>
            </a:r>
            <a:endParaRPr lang="en-US" sz="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highlight>
                  <a:srgbClr val="F3F4F6"/>
                </a:highlight>
              </a:rPr>
              <a:t>2단계: 'C'가 Push되어 Top이 C로 이동한 상태.</a:t>
            </a:r>
            <a:endParaRPr lang="en-US" sz="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highlight>
                  <a:srgbClr val="F3F4F6"/>
                </a:highlight>
              </a:rPr>
              <a:t>3단계: Pop 연산이 수행되어 'C'가 밖으로 빠져나오고 다시 Top이 B로 돌아온 상태]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6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5. Python으로 구현하는 초간단 스택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파이썬의 기본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`list`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를 활용하면 스택을 단 5줄로 완벽히 구현 가능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100" dirty="0">
                <a:solidFill>
                  <a:srgbClr val="005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파이썬 리스트를 활용한 스택 구현</a:t>
            </a:r>
            <a:endParaRPr lang="en-US" sz="800" dirty="0"/>
          </a:p>
          <a:p>
            <a:pPr indent="0" marL="0">
              <a:buNone/>
            </a:pPr>
            <a:r>
              <a:rPr lang="en-US" sz="1100" dirty="0">
                <a:solidFill>
                  <a:srgbClr val="005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= []</a:t>
            </a:r>
            <a:endParaRPr lang="en-US" sz="800" dirty="0"/>
          </a:p>
          <a:p>
            <a:pPr indent="0" marL="0">
              <a:buNone/>
            </a:pPr>
            <a:r>
              <a:rPr lang="en-US" sz="1100" dirty="0">
                <a:solidFill>
                  <a:srgbClr val="005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stack.append("A")  # Push</a:t>
            </a:r>
            <a:endParaRPr lang="en-US" sz="800" dirty="0"/>
          </a:p>
          <a:p>
            <a:pPr indent="0" marL="0">
              <a:buNone/>
            </a:pPr>
            <a:r>
              <a:rPr lang="en-US" sz="1100" dirty="0">
                <a:solidFill>
                  <a:srgbClr val="005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stack.append("B")  # Push</a:t>
            </a:r>
            <a:endParaRPr lang="en-US" sz="800" dirty="0"/>
          </a:p>
          <a:p>
            <a:pPr indent="0" marL="0">
              <a:buNone/>
            </a:pPr>
            <a:r>
              <a:rPr lang="en-US" sz="1100" dirty="0">
                <a:solidFill>
                  <a:srgbClr val="005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print(stack.pop())  # Pop -&gt; 출력: 'B'</a:t>
            </a:r>
            <a:endParaRPr lang="en-US" sz="800" dirty="0"/>
          </a:p>
          <a:p>
            <a:pPr indent="0" marL="0">
              <a:buNone/>
            </a:pPr>
            <a:r>
              <a:rPr lang="en-US" sz="1100" dirty="0">
                <a:solidFill>
                  <a:srgbClr val="005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print(stack)  # 남은 스택 -&gt; 출력: ['A']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`append()`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리스트의 맨 뒤에 요소를 추가 (Push 역할)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`pop()`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리스트의 맨 뒤 요소를 꺼내고 삭제 (Pop 역할)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7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6. 스택은 언제 사용될까? (실무 적용 사례)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웹 브라우저의 뒤로 가기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내가 방금 방문한 페이지를 기억하고 역순으로 이동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문서 에디터의 실행 취소(Undo, Ctrl+Z)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가장 최근에 한 행동을 취소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역순 문자열 만들기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글자를 끝에서부터 차례로 꺼내어 뒤집기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함수 호출 역추적(Call Stack)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프로그램 실행 중 함수가 호출된 순서를 기억하고 복귀할 때 사용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8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7. 큐(Queue)의 본질: 선입선출(FIFO)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선입선출(FIFO, First-In First-Out)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먼저 들어온 데이터가 먼저 나가는 공평한 구조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양방향의 흐름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한쪽 끝(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Rear/Tail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)에서는 삽입만, 다른 쪽 끝(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Front/Head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)에서는 삭제만 일어남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실생활의 비유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맛집 앞에 줄을 선 사람들, 혹은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일방통행 터널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을 통과하는 자동차들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  <a:highlight>
                  <a:srgbClr val="FEF2F2"/>
                </a:highlight>
              </a:rPr>
              <a:t>[그림 설명: 터널 모양의 구조에서 왼쪽(Rear)으로 데이터가 들어가고, 오른쪽(Front)으로 데이터가 빠져나오는 일방통행 흐름의 깔끔한 다이어그램]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9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8. 큐의 핵심 연산 (Operations)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`enqueue()`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큐의 맨 뒤(Rear)에 새로운 데이터를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추가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하는 연산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`dequeue()`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큐의 맨 앞(Front)에서 데이터를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제거하고 반환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하는 연산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`peek() / front()`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가장 먼저 나갈 데이터가 무엇인지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확인만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하는 연산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`isEmpty()`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큐에 대기 중인 데이터가 없는지 확인하는 연산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10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9. 큐 시각화: 순서대로 흐르는 데이터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먼저 대기한 데이터가 먼저 서비스를 받는 구조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  <a:highlight>
                  <a:srgbClr val="FEF2F2"/>
                </a:highlight>
              </a:rPr>
              <a:t>[그림 설명: 대기열을 형상화한 가로형 다이어그램.</a:t>
            </a:r>
            <a:endParaRPr lang="en-US" sz="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highlight>
                  <a:srgbClr val="F3F4F6"/>
                </a:highlight>
              </a:rPr>
              <a:t>왼쪽 끝은 'Rear (삽입)', 오른쪽 끝은 'Front (삭제)'.</a:t>
            </a:r>
            <a:endParaRPr lang="en-US" sz="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highlight>
                  <a:srgbClr val="F3F4F6"/>
                </a:highlight>
              </a:rPr>
              <a:t>데이터 [3, 4, 5]가 있을 때 3이 가장 먼저 Dequeue 대상이 되고, 새로운 데이터 6은 5의 뒤인 Rear 위치로 Enqueue되는 과정 표시]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11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10. Python으로 구현하는 고성능 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일반 리스트는 성능이 느리므로, 파이썬에서는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`collections.deque`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를 사용하는 것이 정석!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100" dirty="0">
                <a:solidFill>
                  <a:srgbClr val="005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1100" dirty="0">
                <a:solidFill>
                  <a:srgbClr val="005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= deque()</a:t>
            </a:r>
            <a:endParaRPr lang="en-US" sz="800" dirty="0"/>
          </a:p>
          <a:p>
            <a:pPr indent="0" marL="0">
              <a:buNone/>
            </a:pPr>
            <a:r>
              <a:rPr lang="en-US" sz="1100" dirty="0">
                <a:solidFill>
                  <a:srgbClr val="005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queue.append("A")  # Enqueue</a:t>
            </a:r>
            <a:endParaRPr lang="en-US" sz="800" dirty="0"/>
          </a:p>
          <a:p>
            <a:pPr indent="0" marL="0">
              <a:buNone/>
            </a:pPr>
            <a:r>
              <a:rPr lang="en-US" sz="1100" dirty="0">
                <a:solidFill>
                  <a:srgbClr val="005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queue.append("B")  # Enqueue</a:t>
            </a:r>
            <a:endParaRPr lang="en-US" sz="800" dirty="0"/>
          </a:p>
          <a:p>
            <a:pPr indent="0" marL="0">
              <a:buNone/>
            </a:pPr>
            <a:r>
              <a:rPr lang="en-US" sz="1100" dirty="0">
                <a:solidFill>
                  <a:srgbClr val="005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print(queue.popleft())  # Dequeue -&gt; 출력: 'A'</a:t>
            </a:r>
            <a:endParaRPr lang="en-US" sz="800" dirty="0"/>
          </a:p>
          <a:p>
            <a:pPr indent="0" marL="0">
              <a:buNone/>
            </a:pPr>
            <a:r>
              <a:rPr lang="en-US" sz="1100" dirty="0">
                <a:solidFill>
                  <a:srgbClr val="005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print(queue)  # 남은 큐 -&gt; 출력: deque(['B'])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`append()`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큐의 맨 뒤에 데이터 추가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`popleft()`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큐의 맨 앞 데이터를 효율적으로 추출 (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시간 복잡도 $O(1)$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보장)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12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11. 큐는 언제 사용될까? (실무 적용 사례)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인쇄 작업 대기열(Spooler)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인쇄 버튼을 누른 순서대로 문서 출력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은행 업무 및 고객 센터 대기열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번호표를 뽑은 순서대로 업무 처리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네트워크 패킷 전송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라우터가 수신된 패킷을 순서대로 처리하여 전송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프로세스 스케줄링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OS가 CPU 자원을 여러 작업에 순차적으로 배분할 때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13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12. 한눈에 보는 스택(Stack) vs 큐(Queue)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| 구분 | </a:t>
            </a:r>
            <a:pPr indent="0" marL="0">
              <a:buNone/>
            </a:pPr>
            <a:r>
              <a:rPr lang="en-US" sz="1600" b="1" dirty="0">
                <a:solidFill>
                  <a:srgbClr val="555555"/>
                </a:solidFill>
              </a:rPr>
              <a:t>스택 (Stack)</a:t>
            </a:r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 | </a:t>
            </a:r>
            <a:pPr indent="0" marL="0">
              <a:buNone/>
            </a:pPr>
            <a:r>
              <a:rPr lang="en-US" sz="1600" b="1" dirty="0">
                <a:solidFill>
                  <a:srgbClr val="555555"/>
                </a:solidFill>
              </a:rPr>
              <a:t>큐 (Queue)</a:t>
            </a:r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 |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| :--- | :--- | :--- |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| </a:t>
            </a:r>
            <a:pPr indent="0" marL="0">
              <a:buNone/>
            </a:pPr>
            <a:r>
              <a:rPr lang="en-US" sz="1600" b="1" dirty="0">
                <a:solidFill>
                  <a:srgbClr val="555555"/>
                </a:solidFill>
              </a:rPr>
              <a:t>작동 원리</a:t>
            </a:r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 | 후입선출 (</a:t>
            </a:r>
            <a:pPr indent="0" marL="0">
              <a:buNone/>
            </a:pPr>
            <a:r>
              <a:rPr lang="en-US" sz="1600" b="1" dirty="0">
                <a:solidFill>
                  <a:srgbClr val="555555"/>
                </a:solidFill>
              </a:rPr>
              <a:t>LIFO</a:t>
            </a:r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) | 선입선출 (</a:t>
            </a:r>
            <a:pPr indent="0" marL="0">
              <a:buNone/>
            </a:pPr>
            <a:r>
              <a:rPr lang="en-US" sz="1600" b="1" dirty="0">
                <a:solidFill>
                  <a:srgbClr val="555555"/>
                </a:solidFill>
              </a:rPr>
              <a:t>FIFO</a:t>
            </a:r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) |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| </a:t>
            </a:r>
            <a:pPr indent="0" marL="0">
              <a:buNone/>
            </a:pPr>
            <a:r>
              <a:rPr lang="en-US" sz="1600" b="1" dirty="0">
                <a:solidFill>
                  <a:srgbClr val="555555"/>
                </a:solidFill>
              </a:rPr>
              <a:t>데이터 삽입</a:t>
            </a:r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 | 한쪽 끝 (Top) | 맨 뒤 (Rear) |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| </a:t>
            </a:r>
            <a:pPr indent="0" marL="0">
              <a:buNone/>
            </a:pPr>
            <a:r>
              <a:rPr lang="en-US" sz="1600" b="1" dirty="0">
                <a:solidFill>
                  <a:srgbClr val="555555"/>
                </a:solidFill>
              </a:rPr>
              <a:t>데이터 삭제</a:t>
            </a:r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 | 동일한 끝 (Top) | 맨 앞 (Front) |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| </a:t>
            </a:r>
            <a:pPr indent="0" marL="0">
              <a:buNone/>
            </a:pPr>
            <a:r>
              <a:rPr lang="en-US" sz="1600" b="1" dirty="0">
                <a:solidFill>
                  <a:srgbClr val="555555"/>
                </a:solidFill>
              </a:rPr>
              <a:t>파이썬 추천 모듈</a:t>
            </a:r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 | 기본 `list` | `collections.deque` |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| </a:t>
            </a:r>
            <a:pPr indent="0" marL="0">
              <a:buNone/>
            </a:pPr>
            <a:r>
              <a:rPr lang="en-US" sz="1600" b="1" dirty="0">
                <a:solidFill>
                  <a:srgbClr val="555555"/>
                </a:solidFill>
              </a:rPr>
              <a:t>대표 비유</a:t>
            </a:r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 | 쌓여있는 접시 | 매표소의 대기줄 |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14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13. [체크포인트] 예제로 이해하는 흐름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다음 연산이 연속으로 수행될 때, 최종 결과를 예측해 보세요!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1) 스택 연산 시뮬레이션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`Push(1)` $\rightarrow$ `Push(2)` $\rightarrow$ `Pop()` $\rightarrow$ `Push(3)`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최종 스택 상태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`[1, 3]`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2) 큐 연산 시뮬레이션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`Enqueue(1)` $\rightarrow$ `Enqueue(2)` $\rightarrow$ `Dequeue()` $\rightarrow$ `Enqueue(3)`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최종 큐 상태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`[2, 3]`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15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14. 실무 레벨 업: 큐의 확장과 변형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기본 큐의 한계를 극복하기 위한 발전된 형태들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원형 큐 (Circular Queue)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선형 큐의 메모리 낭비 문제를 해결하기 위해 처음과 끝을 연결한 구조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우선순위 큐 (Priority Queue)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들어온 순서와 상관없이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우선순위가 높은 데이터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가 먼저 나가는 구조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덱 (Deque - Double Ended Queue)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: 양쪽 끝 모두에서 삽입과 삭제가 가능한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하이브리드형 구조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3489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16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15. 5주차 핵심 요약 및 과제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011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핵심 요약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스택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은 뒤집기, 되돌리기 등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역순 추적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에 특화된 자료구조입니다.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큐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는 순서대로 처리해야 하는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대기열 관리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에 특화된 자료구조입니다.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실무 및 알고리즘 문제 해결 시 적절한 자료구조 선택이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프로그램 성능을 결정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합니다.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오늘의 도전 과제</a:t>
            </a:r>
            <a:endParaRPr lang="en-US" sz="8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파이썬의 `deque`를 활용하여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"문자열 회문(Palindrome)"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판별 프로그램을 작성해 보세요! (앞뒤가 똑같은 단어 판별하기)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2026-05-25T06:02:08Z</dcterms:created>
  <dcterms:modified xsi:type="dcterms:W3CDTF">2026-05-25T06:02:08Z</dcterms:modified>
</cp:coreProperties>
</file>