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310" r:id="rId2"/>
    <p:sldId id="303" r:id="rId3"/>
    <p:sldId id="304" r:id="rId4"/>
    <p:sldId id="305" r:id="rId5"/>
    <p:sldId id="306" r:id="rId6"/>
    <p:sldId id="307" r:id="rId7"/>
    <p:sldId id="308" r:id="rId8"/>
    <p:sldId id="309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302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7" d="100"/>
          <a:sy n="147" d="100"/>
        </p:scale>
        <p:origin x="69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9202A-7E06-4A3C-AE3C-D598843AD1CE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E74C1-B062-48B7-AB7A-CE3667FE1F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714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111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9456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</a:rPr>
              <a:t>Chapter 07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10896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4000" b="1" dirty="0"/>
              <a:t>문자열 검색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브루트 포스 문자열 검색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9707A"/>
                </a:solidFill>
              </a:rPr>
              <a:t>텍스트의 각 위치에서 패턴을 처음부터 하나씩 대조하는 가장 기본적인 방법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" y="15636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txt = "ABABCDEFGHA"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938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3134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99032" y="1874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99032" y="192938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99032" y="23134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929384" y="1874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9384" y="192938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29384" y="23134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459736" y="1874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9736" y="192938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59736" y="23134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990088" y="1874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0088" y="192938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90088" y="23134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520440" y="1874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192938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20440" y="23134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050792" y="1874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50792" y="192938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050792" y="23134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581144" y="1874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81144" y="192938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81144" y="23134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111496" y="1874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11496" y="192938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11496" y="23134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641848" y="1874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41848" y="192938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41848" y="23134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172200" y="1874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192938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72200" y="23134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847088" y="28437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 = "ABC"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938528" y="315468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38528" y="320954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938528" y="359359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468880" y="315468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68880" y="320954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468880" y="359359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999232" y="315468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99232" y="320954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999232" y="359359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040880" y="1828800"/>
            <a:ext cx="402336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BFC5CE"/>
            </a:solidFill>
            <a:prstDash val="solid"/>
          </a:ln>
          <a:effectLst>
            <a:outerShdw blurRad="1905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150608" y="1920240"/>
            <a:ext cx="380390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안에서 pat이 처음 시작되는 위치 찾기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7040880" y="3154680"/>
            <a:ext cx="4023360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BFC5CE"/>
            </a:solidFill>
            <a:prstDash val="solid"/>
          </a:ln>
          <a:effectLst>
            <a:outerShdw blurRad="1905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150608" y="3246120"/>
            <a:ext cx="3803904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원리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맞으면 계속 진행, 틀리면 시작 위치를 한 칸 오른쪽으로 옮김</a:t>
            </a:r>
            <a:endParaRPr lang="en-US" sz="1700" dirty="0"/>
          </a:p>
        </p:txBody>
      </p:sp>
      <p:sp>
        <p:nvSpPr>
          <p:cNvPr id="52" name="Shape 50"/>
          <p:cNvSpPr/>
          <p:nvPr/>
        </p:nvSpPr>
        <p:spPr>
          <a:xfrm>
            <a:off x="3474720" y="5074920"/>
            <a:ext cx="530352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2B5C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84448" y="5166360"/>
            <a:ext cx="5084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5C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Python index 2 → 출력값 3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브루트 포스 코드의 전체 구조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20840" y="1234440"/>
            <a:ext cx="4389120" cy="822960"/>
          </a:xfrm>
          <a:prstGeom prst="roundRect">
            <a:avLst>
              <a:gd name="adj" fmla="val 6667"/>
            </a:avLst>
          </a:prstGeom>
          <a:solidFill>
            <a:srgbClr val="F6F7F9"/>
          </a:solidFill>
          <a:ln w="12700">
            <a:solidFill>
              <a:srgbClr val="BFC5CE"/>
            </a:solidFill>
            <a:prstDash val="solid"/>
          </a:ln>
          <a:effectLst>
            <a:outerShdw blurRad="1905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30568" y="1325880"/>
            <a:ext cx="41696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txt에서 현재 비교 중인 위치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2331720"/>
            <a:ext cx="4389120" cy="822960"/>
          </a:xfrm>
          <a:prstGeom prst="roundRect">
            <a:avLst>
              <a:gd name="adj" fmla="val 6667"/>
            </a:avLst>
          </a:prstGeom>
          <a:solidFill>
            <a:srgbClr val="F6F7F9"/>
          </a:solidFill>
          <a:ln w="12700">
            <a:solidFill>
              <a:srgbClr val="BFC5CE"/>
            </a:solidFill>
            <a:prstDash val="solid"/>
          </a:ln>
          <a:effectLst>
            <a:outerShdw blurRad="1905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30568" y="2423160"/>
            <a:ext cx="41696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pat에서 현재 비교 중인 위치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720840" y="3429000"/>
            <a:ext cx="4389120" cy="868680"/>
          </a:xfrm>
          <a:prstGeom prst="roundRect">
            <a:avLst>
              <a:gd name="adj" fmla="val 6316"/>
            </a:avLst>
          </a:prstGeom>
          <a:solidFill>
            <a:srgbClr val="F6F7F9"/>
          </a:solidFill>
          <a:ln w="12700">
            <a:solidFill>
              <a:srgbClr val="BFC5CE"/>
            </a:solidFill>
            <a:prstDash val="solid"/>
          </a:ln>
          <a:effectLst>
            <a:outerShdw blurRad="1905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30568" y="3520440"/>
            <a:ext cx="416966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조건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끝 또는 패턴 끝에 도달할 때까지 비교함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720840" y="4553712"/>
            <a:ext cx="4389120" cy="868680"/>
          </a:xfrm>
          <a:prstGeom prst="roundRect">
            <a:avLst>
              <a:gd name="adj" fmla="val 6316"/>
            </a:avLst>
          </a:prstGeom>
          <a:solidFill>
            <a:srgbClr val="F6F7F9"/>
          </a:solidFill>
          <a:ln w="12700">
            <a:solidFill>
              <a:srgbClr val="BFC5CE"/>
            </a:solidFill>
            <a:prstDash val="solid"/>
          </a:ln>
          <a:effectLst>
            <a:outerShdw blurRad="1905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30568" y="4645152"/>
            <a:ext cx="416966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처리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시작 위치를 한 칸 오른쪽으로 이동함</a:t>
            </a:r>
            <a:endParaRPr lang="en-US" sz="1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9F751D-9338-26FD-C4D4-B12F632D9E34}"/>
              </a:ext>
            </a:extLst>
          </p:cNvPr>
          <p:cNvSpPr txBox="1"/>
          <p:nvPr/>
        </p:nvSpPr>
        <p:spPr>
          <a:xfrm>
            <a:off x="680734" y="1116847"/>
            <a:ext cx="609497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브루트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포스법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bf_match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pt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pp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b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pt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(txt)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pp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(pat):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txt[pt]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pat[pp]: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pt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pp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pt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pt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pp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pp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pt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pp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pp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(pat)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s1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"ABABCDEFGHA"</a:t>
            </a: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s2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"ABC"</a:t>
            </a: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문자가 같으면 pt와 pp가 함께 이동함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5800" y="11064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438912" cy="347472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721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196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216152" y="1417320"/>
            <a:ext cx="438912" cy="347472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14721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16152" y="18196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655064" y="141732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55064" y="14721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55064" y="18196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093976" y="141732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93976" y="14721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93976" y="18196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532888" y="141732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32888" y="14721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32888" y="18196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971800" y="141732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4721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971800" y="18196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410712" y="141732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14721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10712" y="18196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849624" y="141732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9624" y="14721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49624" y="18196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288536" y="141732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88536" y="14721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88536" y="18196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727448" y="141732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27448" y="14721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27448" y="18196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166360" y="141732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14721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66360" y="18196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85800" y="2432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77240" y="2743200"/>
            <a:ext cx="438912" cy="347472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27980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77240" y="3145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216152" y="2743200"/>
            <a:ext cx="438912" cy="347472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16152" y="27980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216152" y="3145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655064" y="274320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55064" y="27980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655064" y="3145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492240" y="1325880"/>
            <a:ext cx="4754880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BFC5CE"/>
            </a:solidFill>
            <a:prstDash val="solid"/>
          </a:ln>
          <a:effectLst>
            <a:outerShdw blurRad="1905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601968" y="1417320"/>
            <a:ext cx="453542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비교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txt[0] = A, pat[0] = A → 일치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pt: 0 → 1, pp: 0 → 1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6492240" y="2743200"/>
            <a:ext cx="4754880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BFC5CE"/>
            </a:solidFill>
            <a:prstDash val="solid"/>
          </a:ln>
          <a:effectLst>
            <a:outerShdw blurRad="1905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601968" y="2834640"/>
            <a:ext cx="453542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비교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txt[1] = B, pat[1] = B → 일치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pt: 1 → 2, pp: 1 → 2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2834640" y="4892040"/>
            <a:ext cx="3657600" cy="777240"/>
          </a:xfrm>
          <a:prstGeom prst="roundRect">
            <a:avLst>
              <a:gd name="adj" fmla="val 4706"/>
            </a:avLst>
          </a:prstGeom>
          <a:solidFill>
            <a:srgbClr val="F7F7F7"/>
          </a:solidFill>
          <a:ln w="12700">
            <a:solidFill>
              <a:srgbClr val="C7CBD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80944" y="50200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txt[pt] == pat[pp]: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pt +=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pp += 1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949440" y="4983480"/>
            <a:ext cx="38404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2B5CA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59168" y="5074920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5C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현재까지 AB가 일치한 상태임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문자가 다르면 시작 위치를 다시 잡음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5800" y="10149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8074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282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216152" y="132588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138074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16152" y="17282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655064" y="1325880"/>
            <a:ext cx="438912" cy="347472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55064" y="138074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55064" y="17282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093976" y="132588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93976" y="138074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93976" y="17282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532888" y="132588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32888" y="138074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32888" y="17282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971800" y="132588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38074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971800" y="17282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410712" y="132588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138074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10712" y="17282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849624" y="132588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9624" y="138074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49624" y="17282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288536" y="132588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88536" y="138074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88536" y="17282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727448" y="132588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27448" y="138074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27448" y="17282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166360" y="132588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138074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66360" y="17282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85800" y="23865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77240" y="269748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275234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77240" y="30998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216152" y="269748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16152" y="275234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216152" y="30998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655064" y="2697480"/>
            <a:ext cx="438912" cy="347472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55064" y="275234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655064" y="30998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583680" y="1234440"/>
            <a:ext cx="4297680" cy="1234440"/>
          </a:xfrm>
          <a:prstGeom prst="roundRect">
            <a:avLst>
              <a:gd name="adj" fmla="val 4444"/>
            </a:avLst>
          </a:prstGeom>
          <a:solidFill>
            <a:srgbClr val="FFF9F9"/>
          </a:solidFill>
          <a:ln w="12700">
            <a:solidFill>
              <a:srgbClr val="E1B5B5"/>
            </a:solidFill>
            <a:prstDash val="solid"/>
          </a:ln>
          <a:effectLst>
            <a:outerShdw blurRad="1905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693408" y="1325880"/>
            <a:ext cx="4078224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D84C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비교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D84C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txt[2] = A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D84C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pat[2] = C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D84C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≠ C → 불일치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6583680" y="2788920"/>
            <a:ext cx="4297680" cy="1005840"/>
          </a:xfrm>
          <a:prstGeom prst="roundRect">
            <a:avLst>
              <a:gd name="adj" fmla="val 3636"/>
            </a:avLst>
          </a:prstGeom>
          <a:solidFill>
            <a:srgbClr val="F7F7F7"/>
          </a:solidFill>
          <a:ln w="12700">
            <a:solidFill>
              <a:srgbClr val="C7CBD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29984" y="2916936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pt = pt - pp + 1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pp = 0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6583680" y="4160520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BFC5CE"/>
            </a:solidFill>
            <a:prstDash val="solid"/>
          </a:ln>
          <a:effectLst>
            <a:outerShdw blurRad="1905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693408" y="4251960"/>
            <a:ext cx="407822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pt = 2, pp = 2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 = 2 - 2 + 1 = 1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 = 0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2194560" y="5166360"/>
            <a:ext cx="521208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2B5CA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04288" y="5257800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5C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시작 위치 0 → 다음 시작 위치 1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pt = pt - pp + 1인가?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BFC5CE"/>
            </a:solidFill>
            <a:prstDash val="solid"/>
          </a:ln>
          <a:effectLst>
            <a:outerShdw blurRad="1905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32688" y="1188720"/>
            <a:ext cx="42611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 - pp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패턴 비교를 시작했던 텍스트 위치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0" y="1097280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BFC5CE"/>
            </a:solidFill>
            <a:prstDash val="solid"/>
          </a:ln>
          <a:effectLst>
            <a:outerShdw blurRad="1905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10528" y="1188720"/>
            <a:ext cx="42611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+ 1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시작 위치에서 한 칸 오른쪽으로 이동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4780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시도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788920"/>
            <a:ext cx="438912" cy="347472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437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1912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216152" y="2788920"/>
            <a:ext cx="438912" cy="347472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28437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16152" y="31912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655064" y="2788920"/>
            <a:ext cx="438912" cy="347472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55064" y="28437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55064" y="31912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093976" y="278892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93976" y="28437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93976" y="31912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532888" y="278892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32888" y="28437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32888" y="31912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971800" y="278892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28437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971800" y="31912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410712" y="278892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0712" y="28437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10712" y="31912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849624" y="278892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9624" y="28437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49624" y="31912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288536" y="278892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88536" y="28437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288536" y="31912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727448" y="278892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27448" y="28437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727448" y="31912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166360" y="278892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28437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66360" y="31912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85800" y="34838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77240" y="3794760"/>
            <a:ext cx="438912" cy="347472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384962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77240" y="419709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216152" y="3794760"/>
            <a:ext cx="438912" cy="347472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16152" y="384962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216152" y="419709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655064" y="3794760"/>
            <a:ext cx="438912" cy="347472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55064" y="384962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655064" y="419709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400800" y="28163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84C4C"/>
                </a:solidFill>
              </a:rPr>
              <a:t>A = A, B = B, A ≠ C</a:t>
            </a:r>
            <a:endParaRPr lang="en-US" sz="1900" dirty="0"/>
          </a:p>
        </p:txBody>
      </p:sp>
      <p:sp>
        <p:nvSpPr>
          <p:cNvPr id="52" name="Text 50"/>
          <p:cNvSpPr/>
          <p:nvPr/>
        </p:nvSpPr>
        <p:spPr>
          <a:xfrm>
            <a:off x="6400800" y="34290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1F"/>
                </a:solidFill>
              </a:rPr>
              <a:t>실패 시 시작 위치 계산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00800" y="3794760"/>
            <a:ext cx="4480560" cy="1143000"/>
          </a:xfrm>
          <a:prstGeom prst="roundRect">
            <a:avLst>
              <a:gd name="adj" fmla="val 3200"/>
            </a:avLst>
          </a:prstGeom>
          <a:solidFill>
            <a:srgbClr val="F7F7F7"/>
          </a:solidFill>
          <a:ln w="12700">
            <a:solidFill>
              <a:srgbClr val="C7CBD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47104" y="3922776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 = 2, pp = 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시작 위치 = pt - pp = 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시작 위치 = 0 + 1 = 1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3017520" y="5715000"/>
            <a:ext cx="62179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2B5C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27248" y="5806440"/>
            <a:ext cx="5998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5C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브루트 포스는 재활용 없이 한 칸씩 다시 시작함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번째 시도에서 패턴 전체가 일치함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77240" y="10241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9707A"/>
                </a:solidFill>
              </a:rPr>
              <a:t>시도 1: 시작 위치 0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457200" cy="338328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807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234440" y="1325880"/>
            <a:ext cx="457200" cy="338328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3807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19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691640" y="1325880"/>
            <a:ext cx="457200" cy="338328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13807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1719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148840" y="132588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13807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48840" y="1719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606040" y="132588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13807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06040" y="1719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063240" y="132588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13807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63240" y="1719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520440" y="132588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13807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20440" y="1719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977640" y="132588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77640" y="13807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77640" y="1719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434840" y="132588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13807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34840" y="1719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892040" y="132588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3807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92040" y="1719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349240" y="132588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13807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49240" y="1719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77240" y="2148840"/>
            <a:ext cx="457200" cy="338328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2203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77240" y="25420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234440" y="2148840"/>
            <a:ext cx="457200" cy="338328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34440" y="2203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234440" y="25420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691640" y="2148840"/>
            <a:ext cx="457200" cy="338328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91640" y="2203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691640" y="25420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583680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84C4C"/>
                </a:solidFill>
              </a:rPr>
              <a:t>A, B는 맞지만 C에서 실패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777240" y="2880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9707A"/>
                </a:solidFill>
              </a:rPr>
              <a:t>시도 2: 시작 위치 1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777240" y="315468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" y="32095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77240" y="35478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234440" y="3154680"/>
            <a:ext cx="457200" cy="338328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32095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234440" y="35478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691640" y="315468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691640" y="32095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691640" y="35478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2148840" y="315468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48840" y="32095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2148840" y="35478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2606040" y="315468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606040" y="32095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2606040" y="35478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063240" y="315468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063240" y="32095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3063240" y="35478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3520440" y="315468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20440" y="32095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3520440" y="35478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3977640" y="315468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77640" y="32095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3977640" y="35478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434840" y="315468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434840" y="32095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4434840" y="35478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892040" y="315468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92040" y="32095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4892040" y="35478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5349240" y="315468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349240" y="32095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5349240" y="35478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1234440" y="3977640"/>
            <a:ext cx="457200" cy="338328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234440" y="40325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83" name="Text 81"/>
          <p:cNvSpPr/>
          <p:nvPr/>
        </p:nvSpPr>
        <p:spPr>
          <a:xfrm>
            <a:off x="1234440" y="4370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1691640" y="397764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691640" y="40325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1691640" y="4370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2148840" y="397764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148840" y="40325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2148840" y="4370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6583680" y="3383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84C4C"/>
                </a:solidFill>
              </a:rPr>
              <a:t>txt[1]=B, pat[0]=A → 실패</a:t>
            </a:r>
            <a:endParaRPr lang="en-US" sz="1700" dirty="0"/>
          </a:p>
        </p:txBody>
      </p:sp>
      <p:sp>
        <p:nvSpPr>
          <p:cNvPr id="91" name="Text 89"/>
          <p:cNvSpPr/>
          <p:nvPr/>
        </p:nvSpPr>
        <p:spPr>
          <a:xfrm>
            <a:off x="777240" y="4617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9707A"/>
                </a:solidFill>
              </a:rPr>
              <a:t>시도 3: 시작 위치 2</a:t>
            </a:r>
            <a:endParaRPr lang="en-US" sz="1500" dirty="0"/>
          </a:p>
        </p:txBody>
      </p:sp>
      <p:sp>
        <p:nvSpPr>
          <p:cNvPr id="92" name="Shape 90"/>
          <p:cNvSpPr/>
          <p:nvPr/>
        </p:nvSpPr>
        <p:spPr>
          <a:xfrm>
            <a:off x="777240" y="489204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77240" y="49469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94" name="Text 92"/>
          <p:cNvSpPr/>
          <p:nvPr/>
        </p:nvSpPr>
        <p:spPr>
          <a:xfrm>
            <a:off x="777240" y="5285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1234440" y="489204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234440" y="49469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97" name="Text 95"/>
          <p:cNvSpPr/>
          <p:nvPr/>
        </p:nvSpPr>
        <p:spPr>
          <a:xfrm>
            <a:off x="1234440" y="5285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1691640" y="4892040"/>
            <a:ext cx="457200" cy="338328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691640" y="49469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100" name="Text 98"/>
          <p:cNvSpPr/>
          <p:nvPr/>
        </p:nvSpPr>
        <p:spPr>
          <a:xfrm>
            <a:off x="1691640" y="5285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2148840" y="4892040"/>
            <a:ext cx="457200" cy="338328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148840" y="49469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103" name="Text 101"/>
          <p:cNvSpPr/>
          <p:nvPr/>
        </p:nvSpPr>
        <p:spPr>
          <a:xfrm>
            <a:off x="2148840" y="5285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2606040" y="4892040"/>
            <a:ext cx="457200" cy="338328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606040" y="49469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400" dirty="0"/>
          </a:p>
        </p:txBody>
      </p:sp>
      <p:sp>
        <p:nvSpPr>
          <p:cNvPr id="106" name="Text 104"/>
          <p:cNvSpPr/>
          <p:nvPr/>
        </p:nvSpPr>
        <p:spPr>
          <a:xfrm>
            <a:off x="2606040" y="5285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3063240" y="489204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063240" y="49469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400" dirty="0"/>
          </a:p>
        </p:txBody>
      </p:sp>
      <p:sp>
        <p:nvSpPr>
          <p:cNvPr id="109" name="Text 107"/>
          <p:cNvSpPr/>
          <p:nvPr/>
        </p:nvSpPr>
        <p:spPr>
          <a:xfrm>
            <a:off x="3063240" y="5285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3520440" y="489204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520440" y="49469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1400" dirty="0"/>
          </a:p>
        </p:txBody>
      </p:sp>
      <p:sp>
        <p:nvSpPr>
          <p:cNvPr id="112" name="Text 110"/>
          <p:cNvSpPr/>
          <p:nvPr/>
        </p:nvSpPr>
        <p:spPr>
          <a:xfrm>
            <a:off x="3520440" y="5285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3977640" y="489204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977640" y="49469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15" name="Text 113"/>
          <p:cNvSpPr/>
          <p:nvPr/>
        </p:nvSpPr>
        <p:spPr>
          <a:xfrm>
            <a:off x="3977640" y="5285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4434840" y="489204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434840" y="49469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</a:t>
            </a:r>
            <a:endParaRPr lang="en-US" sz="1400" dirty="0"/>
          </a:p>
        </p:txBody>
      </p:sp>
      <p:sp>
        <p:nvSpPr>
          <p:cNvPr id="118" name="Text 116"/>
          <p:cNvSpPr/>
          <p:nvPr/>
        </p:nvSpPr>
        <p:spPr>
          <a:xfrm>
            <a:off x="4434840" y="5285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4892040" y="489204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892040" y="49469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</a:t>
            </a:r>
            <a:endParaRPr lang="en-US" sz="1400" dirty="0"/>
          </a:p>
        </p:txBody>
      </p:sp>
      <p:sp>
        <p:nvSpPr>
          <p:cNvPr id="121" name="Text 119"/>
          <p:cNvSpPr/>
          <p:nvPr/>
        </p:nvSpPr>
        <p:spPr>
          <a:xfrm>
            <a:off x="4892040" y="5285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5349240" y="4892040"/>
            <a:ext cx="457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349240" y="49469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124" name="Text 122"/>
          <p:cNvSpPr/>
          <p:nvPr/>
        </p:nvSpPr>
        <p:spPr>
          <a:xfrm>
            <a:off x="5349240" y="5285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1691640" y="5669280"/>
            <a:ext cx="457200" cy="338328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691640" y="57241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127" name="Text 125"/>
          <p:cNvSpPr/>
          <p:nvPr/>
        </p:nvSpPr>
        <p:spPr>
          <a:xfrm>
            <a:off x="1691640" y="6062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2148840" y="5669280"/>
            <a:ext cx="457200" cy="338328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148840" y="57241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130" name="Text 128"/>
          <p:cNvSpPr/>
          <p:nvPr/>
        </p:nvSpPr>
        <p:spPr>
          <a:xfrm>
            <a:off x="2148840" y="6062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2606040" y="5669280"/>
            <a:ext cx="457200" cy="338328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606040" y="57241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400" dirty="0"/>
          </a:p>
        </p:txBody>
      </p:sp>
      <p:sp>
        <p:nvSpPr>
          <p:cNvPr id="133" name="Text 131"/>
          <p:cNvSpPr/>
          <p:nvPr/>
        </p:nvSpPr>
        <p:spPr>
          <a:xfrm>
            <a:off x="2606040" y="6062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6400800" y="4919472"/>
            <a:ext cx="429768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2B5CA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510528" y="5010912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5C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txt[2:5] = ABC → pat 전체 일치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반환값과 핵심 정리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BFC5CE"/>
            </a:solidFill>
            <a:prstDash val="solid"/>
          </a:ln>
          <a:effectLst>
            <a:outerShdw blurRad="1905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86968" y="1188720"/>
            <a:ext cx="298094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성공 시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 == len(pat)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480560" y="1097280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BFC5CE"/>
            </a:solidFill>
            <a:prstDash val="solid"/>
          </a:ln>
          <a:effectLst>
            <a:outerShdw blurRad="1905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90288" y="1188720"/>
            <a:ext cx="298094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상태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 = 5, pp = 3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183880" y="1097280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BFC5CE"/>
            </a:solidFill>
            <a:prstDash val="solid"/>
          </a:ln>
          <a:effectLst>
            <a:outerShdw blurRad="1905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08" y="1188720"/>
            <a:ext cx="298094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위치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 - pp = 5 - 3 = 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2432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51560" y="274320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7980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145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490472" y="274320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90472" y="27980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90472" y="3145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929384" y="2743200"/>
            <a:ext cx="438912" cy="347472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9384" y="27980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29384" y="3145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368296" y="2743200"/>
            <a:ext cx="438912" cy="347472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68296" y="27980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68296" y="3145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807208" y="2743200"/>
            <a:ext cx="438912" cy="347472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07208" y="27980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07208" y="3145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246120" y="274320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27980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46120" y="3145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685032" y="274320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85032" y="27980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85032" y="3145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123944" y="274320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23944" y="27980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23944" y="3145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62856" y="274320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62856" y="27980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62856" y="3145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001768" y="274320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01768" y="27980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001768" y="3145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440680" y="2743200"/>
            <a:ext cx="438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0680" y="27980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40680" y="3145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020824" y="3575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112264" y="3886200"/>
            <a:ext cx="438912" cy="347472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12264" y="39410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2112264" y="4288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551176" y="3886200"/>
            <a:ext cx="438912" cy="347472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51176" y="39410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2551176" y="4288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990088" y="3886200"/>
            <a:ext cx="438912" cy="347472"/>
          </a:xfrm>
          <a:prstGeom prst="rect">
            <a:avLst/>
          </a:prstGeom>
          <a:solidFill>
            <a:srgbClr val="FFF4CC"/>
          </a:solidFill>
          <a:ln w="12700">
            <a:solidFill>
              <a:srgbClr val="BFC5C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90088" y="39410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2990088" y="4288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7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400800" y="2880360"/>
            <a:ext cx="4572000" cy="1417320"/>
          </a:xfrm>
          <a:prstGeom prst="roundRect">
            <a:avLst>
              <a:gd name="adj" fmla="val 2581"/>
            </a:avLst>
          </a:prstGeom>
          <a:solidFill>
            <a:srgbClr val="F7F7F7"/>
          </a:solidFill>
          <a:ln w="12700">
            <a:solidFill>
              <a:srgbClr val="C7CBD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47104" y="3008376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pt - pp if pp == len(pat) else -1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= 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print(idx + 1)  # 3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2011680" y="5623560"/>
            <a:ext cx="813816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2B5C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21408" y="5715000"/>
            <a:ext cx="7918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5C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브루트 포스법: 틀리면 한 칸 옮겨 처음부터 다시 비교함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325880"/>
            <a:ext cx="972921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Malgun Gothic"/>
              </a:defRPr>
            </a:pPr>
            <a:r>
              <a:t>문자열 검색에서 “불필요한 재비교”가 왜 문제가 되는지 설명할 수 있음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Malgun Gothic"/>
              </a:defRPr>
            </a:pPr>
            <a:r>
              <a:t>KMP의 skip 배열이 의미하는 “앞부분과 뒷부분이 같은 최대 길이”를 설명할 수 있음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Malgun Gothic"/>
              </a:defRPr>
            </a:pPr>
            <a:r>
              <a:t>KMP 검색 과정에서 pt, pp가 어떻게 이동하는지 추적할 수 있음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Malgun Gothic"/>
              </a:defRPr>
            </a:pPr>
            <a:r>
              <a:t>보이어–무어법의 문자별 skip 표를 만들 수 있음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Malgun Gothic"/>
              </a:defRPr>
            </a:pPr>
            <a:r>
              <a:t>BM 검색 과정에서 오른쪽부터 비교하고, 이동량을 max()로 정하는 이유를 설명할 수 있음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Malgun Gothic"/>
              </a:defRPr>
            </a:pPr>
            <a:r>
              <a:t>두 알고리즘의 관점 차이를 비교할 수 있음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문자열 검색의 기본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56A0"/>
                </a:solidFill>
                <a:latin typeface="Malgun Gothic"/>
              </a:defRPr>
            </a:pPr>
            <a:r>
              <a:t>예시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962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6459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6962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933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64592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91640" y="16962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9933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164592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94560" y="16962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19933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164592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97480" y="16962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19933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16459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0" y="16962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19933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03320" y="16459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03320" y="16962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19933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16459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06240" y="16962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19933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16459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09160" y="16962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19933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0" y="16459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2080" y="16962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19933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0" y="16459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15000" y="16962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19933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24231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5F5F"/>
                </a:solidFill>
                <a:latin typeface="Malgun Gothic"/>
              </a:defRPr>
            </a:pPr>
            <a:r>
              <a:t>txt = "ABABCDEFGHA"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28800" y="2971800"/>
            <a:ext cx="1600200" cy="384048"/>
          </a:xfrm>
          <a:prstGeom prst="round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865376" y="3017520"/>
            <a:ext cx="1527048" cy="29260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pat = ABC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2560320" y="2395728"/>
            <a:ext cx="0" cy="484632"/>
          </a:xfrm>
          <a:prstGeom prst="line">
            <a:avLst/>
          </a:prstGeom>
          <a:ln w="22860">
            <a:solidFill>
              <a:srgbClr val="265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954780" y="2667762"/>
            <a:ext cx="6309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1414"/>
                </a:solidFill>
                <a:latin typeface="Malgun Gothic"/>
              </a:defRPr>
            </a:pPr>
            <a:r>
              <a:rPr dirty="0" err="1"/>
              <a:t>목표는</a:t>
            </a:r>
            <a:r>
              <a:rPr dirty="0"/>
              <a:t> </a:t>
            </a:r>
            <a:r>
              <a:rPr dirty="0" err="1"/>
              <a:t>단순히</a:t>
            </a:r>
            <a:r>
              <a:rPr dirty="0"/>
              <a:t> “</a:t>
            </a:r>
            <a:r>
              <a:rPr dirty="0" err="1"/>
              <a:t>있는지</a:t>
            </a:r>
            <a:r>
              <a:rPr dirty="0"/>
              <a:t> </a:t>
            </a:r>
            <a:r>
              <a:rPr dirty="0" err="1"/>
              <a:t>없는지”가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,</a:t>
            </a:r>
            <a:br>
              <a:rPr dirty="0"/>
            </a:br>
            <a:r>
              <a:rPr dirty="0" err="1"/>
              <a:t>패턴이</a:t>
            </a:r>
            <a:r>
              <a:rPr dirty="0"/>
              <a:t> </a:t>
            </a:r>
            <a:r>
              <a:rPr dirty="0" err="1"/>
              <a:t>텍스트의</a:t>
            </a:r>
            <a:r>
              <a:rPr dirty="0"/>
              <a:t> 몇 </a:t>
            </a:r>
            <a:r>
              <a:rPr dirty="0" err="1"/>
              <a:t>번째</a:t>
            </a:r>
            <a:r>
              <a:rPr dirty="0"/>
              <a:t> </a:t>
            </a:r>
            <a:r>
              <a:rPr dirty="0" err="1"/>
              <a:t>위치에서</a:t>
            </a:r>
            <a:r>
              <a:rPr dirty="0"/>
              <a:t> </a:t>
            </a:r>
            <a:r>
              <a:rPr dirty="0" err="1"/>
              <a:t>시작하는지를</a:t>
            </a:r>
            <a:r>
              <a:rPr dirty="0"/>
              <a:t> </a:t>
            </a:r>
            <a:r>
              <a:rPr dirty="0" err="1"/>
              <a:t>찾는</a:t>
            </a:r>
            <a:r>
              <a:rPr dirty="0"/>
              <a:t> </a:t>
            </a:r>
            <a:r>
              <a:rPr dirty="0" err="1"/>
              <a:t>것임</a:t>
            </a:r>
            <a:endParaRPr dirty="0"/>
          </a:p>
        </p:txBody>
      </p:sp>
      <p:sp>
        <p:nvSpPr>
          <p:cNvPr id="42" name="Rounded Rectangle 41"/>
          <p:cNvSpPr/>
          <p:nvPr/>
        </p:nvSpPr>
        <p:spPr>
          <a:xfrm>
            <a:off x="2278867" y="4274820"/>
            <a:ext cx="6309360" cy="182880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443459" y="4411980"/>
            <a:ext cx="598017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Malgun Gothic"/>
              </a:defRPr>
            </a:pPr>
            <a:r>
              <a:t>단순 검색은 실패할 때마다 거의 처음부터 다시 비교함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Malgun Gothic"/>
              </a:defRPr>
            </a:pPr>
            <a:r>
              <a:t>KMP와 BM은 실패 정보를 이용해 다음 비교 위치를 더 똑똑하게 정함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두 알고리즘의 핵심 차이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4572000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8096" y="1280160"/>
            <a:ext cx="4498848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2656A0"/>
                </a:solidFill>
                <a:latin typeface="Malgun Gothic"/>
              </a:defRPr>
            </a:pPr>
            <a:r>
              <a:t>KMP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234440"/>
            <a:ext cx="4572000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80176" y="1280160"/>
            <a:ext cx="4498848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2656A0"/>
                </a:solidFill>
                <a:latin typeface="Malgun Gothic"/>
              </a:defRPr>
            </a:pPr>
            <a:r>
              <a:t>보이어–무어법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4572000" cy="256032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48840"/>
            <a:ext cx="4242816" cy="574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Malgun Gothic"/>
              </a:defRPr>
            </a:pPr>
            <a:r>
              <a:rPr dirty="0" err="1"/>
              <a:t>왼쪽</a:t>
            </a:r>
            <a:r>
              <a:rPr dirty="0"/>
              <a:t> → </a:t>
            </a:r>
            <a:r>
              <a:rPr dirty="0" err="1"/>
              <a:t>오른쪽으로</a:t>
            </a:r>
            <a:r>
              <a:rPr dirty="0"/>
              <a:t> </a:t>
            </a:r>
            <a:r>
              <a:rPr dirty="0" err="1"/>
              <a:t>비교</a:t>
            </a:r>
            <a:endParaRPr dirty="0"/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Malgun Gothic"/>
              </a:defRPr>
            </a:pP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맞은</a:t>
            </a:r>
            <a:r>
              <a:rPr dirty="0"/>
              <a:t> </a:t>
            </a:r>
            <a:r>
              <a:rPr dirty="0" err="1"/>
              <a:t>문자열</a:t>
            </a:r>
            <a:r>
              <a:rPr dirty="0"/>
              <a:t> </a:t>
            </a:r>
            <a:r>
              <a:rPr dirty="0" err="1"/>
              <a:t>안에서</a:t>
            </a:r>
            <a:r>
              <a:rPr dirty="0"/>
              <a:t> </a:t>
            </a:r>
            <a:r>
              <a:rPr dirty="0" err="1"/>
              <a:t>반복</a:t>
            </a:r>
            <a:r>
              <a:rPr dirty="0"/>
              <a:t> </a:t>
            </a:r>
            <a:r>
              <a:rPr dirty="0" err="1"/>
              <a:t>구조를</a:t>
            </a:r>
            <a:r>
              <a:rPr dirty="0"/>
              <a:t> </a:t>
            </a:r>
            <a:r>
              <a:rPr dirty="0" err="1"/>
              <a:t>찾음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4572000" cy="256032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08192" y="2148840"/>
            <a:ext cx="4242816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Malgun Gothic"/>
              </a:defRPr>
            </a:pPr>
            <a:r>
              <a:rPr dirty="0" err="1"/>
              <a:t>오른쪽</a:t>
            </a:r>
            <a:r>
              <a:rPr dirty="0"/>
              <a:t> → </a:t>
            </a:r>
            <a:r>
              <a:rPr dirty="0" err="1"/>
              <a:t>왼쪽으로</a:t>
            </a:r>
            <a:r>
              <a:rPr dirty="0"/>
              <a:t> </a:t>
            </a:r>
            <a:r>
              <a:rPr dirty="0" err="1"/>
              <a:t>비교</a:t>
            </a:r>
            <a:endParaRPr dirty="0"/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Malgun Gothic"/>
              </a:defRPr>
            </a:pPr>
            <a:r>
              <a:rPr dirty="0" err="1"/>
              <a:t>실패한</a:t>
            </a:r>
            <a:r>
              <a:rPr dirty="0"/>
              <a:t> </a:t>
            </a:r>
            <a:r>
              <a:rPr dirty="0" err="1"/>
              <a:t>텍스트</a:t>
            </a:r>
            <a:r>
              <a:rPr dirty="0"/>
              <a:t> </a:t>
            </a:r>
            <a:r>
              <a:rPr dirty="0" err="1"/>
              <a:t>문자가</a:t>
            </a:r>
            <a:r>
              <a:rPr dirty="0"/>
              <a:t> </a:t>
            </a:r>
            <a:r>
              <a:rPr dirty="0" err="1"/>
              <a:t>패턴</a:t>
            </a:r>
            <a:r>
              <a:rPr dirty="0"/>
              <a:t>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있는지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Malgun Gothic"/>
              </a:defRPr>
            </a:pPr>
            <a:r>
              <a:rPr dirty="0"/>
              <a:t>“</a:t>
            </a:r>
            <a:r>
              <a:rPr dirty="0" err="1"/>
              <a:t>틀린</a:t>
            </a:r>
            <a:r>
              <a:rPr dirty="0"/>
              <a:t> </a:t>
            </a:r>
            <a:r>
              <a:rPr dirty="0" err="1"/>
              <a:t>문자를</a:t>
            </a:r>
            <a:r>
              <a:rPr dirty="0"/>
              <a:t> </a:t>
            </a:r>
            <a:r>
              <a:rPr dirty="0" err="1"/>
              <a:t>보고</a:t>
            </a:r>
            <a:r>
              <a:rPr dirty="0"/>
              <a:t> </a:t>
            </a:r>
            <a:r>
              <a:rPr dirty="0" err="1"/>
              <a:t>점프</a:t>
            </a:r>
            <a:r>
              <a:rPr dirty="0"/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166360"/>
            <a:ext cx="9601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2D2D"/>
                </a:solidFill>
                <a:latin typeface="Malgun Gothic"/>
              </a:defRPr>
            </a:pPr>
            <a:r>
              <a:rPr dirty="0" err="1"/>
              <a:t>KMP는</a:t>
            </a:r>
            <a:r>
              <a:rPr dirty="0"/>
              <a:t> “</a:t>
            </a:r>
            <a:r>
              <a:rPr dirty="0" err="1"/>
              <a:t>앞에서부터</a:t>
            </a:r>
            <a:r>
              <a:rPr dirty="0"/>
              <a:t> </a:t>
            </a:r>
            <a:r>
              <a:rPr dirty="0" err="1"/>
              <a:t>쌓아간</a:t>
            </a:r>
            <a:r>
              <a:rPr dirty="0"/>
              <a:t> </a:t>
            </a:r>
            <a:r>
              <a:rPr dirty="0" err="1"/>
              <a:t>일치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”, </a:t>
            </a:r>
            <a:r>
              <a:rPr dirty="0" err="1"/>
              <a:t>BM은</a:t>
            </a:r>
            <a:r>
              <a:rPr dirty="0"/>
              <a:t> “</a:t>
            </a:r>
            <a:r>
              <a:rPr dirty="0" err="1"/>
              <a:t>뒤에서</a:t>
            </a:r>
            <a:r>
              <a:rPr dirty="0"/>
              <a:t> </a:t>
            </a:r>
            <a:r>
              <a:rPr dirty="0" err="1"/>
              <a:t>틀린</a:t>
            </a:r>
            <a:r>
              <a:rPr dirty="0"/>
              <a:t> </a:t>
            </a:r>
            <a:r>
              <a:rPr dirty="0" err="1"/>
              <a:t>문자를</a:t>
            </a:r>
            <a:r>
              <a:rPr dirty="0"/>
              <a:t> </a:t>
            </a:r>
            <a:r>
              <a:rPr dirty="0" err="1"/>
              <a:t>보고</a:t>
            </a:r>
            <a:r>
              <a:rPr dirty="0"/>
              <a:t> </a:t>
            </a:r>
            <a:r>
              <a:rPr dirty="0" err="1"/>
              <a:t>크게</a:t>
            </a:r>
            <a:r>
              <a:rPr dirty="0"/>
              <a:t> </a:t>
            </a:r>
            <a:r>
              <a:rPr dirty="0" err="1"/>
              <a:t>이동”임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398698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rPr lang="en-US" dirty="0"/>
              <a:t>1. </a:t>
            </a:r>
            <a:r>
              <a:rPr dirty="0"/>
              <a:t>KMP </a:t>
            </a:r>
            <a:r>
              <a:rPr dirty="0" err="1"/>
              <a:t>문자열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알고리즘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160520" y="2011679"/>
            <a:ext cx="3291840" cy="73152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7096" y="2057399"/>
            <a:ext cx="321868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txt = "ZABCABXABCABD"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971799"/>
            <a:ext cx="3291840" cy="73152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97096" y="3017518"/>
            <a:ext cx="321868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pat = "ABCABD"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2161" y="4386493"/>
            <a:ext cx="6699505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656A0"/>
                </a:solidFill>
                <a:latin typeface="Malgun Gothic"/>
              </a:defRPr>
            </a:pPr>
            <a:r>
              <a:rPr dirty="0" err="1"/>
              <a:t>핵심</a:t>
            </a:r>
            <a:r>
              <a:rPr dirty="0"/>
              <a:t>: </a:t>
            </a:r>
            <a:r>
              <a:rPr dirty="0" err="1"/>
              <a:t>패턴</a:t>
            </a:r>
            <a:r>
              <a:rPr dirty="0"/>
              <a:t> </a:t>
            </a:r>
            <a:r>
              <a:rPr dirty="0" err="1"/>
              <a:t>안의</a:t>
            </a:r>
            <a:r>
              <a:rPr dirty="0"/>
              <a:t> </a:t>
            </a:r>
            <a:r>
              <a:rPr dirty="0" err="1"/>
              <a:t>반복</a:t>
            </a:r>
            <a:r>
              <a:rPr dirty="0"/>
              <a:t> </a:t>
            </a:r>
            <a:r>
              <a:rPr dirty="0" err="1"/>
              <a:t>구조를</a:t>
            </a:r>
            <a:r>
              <a:rPr dirty="0"/>
              <a:t> </a:t>
            </a:r>
            <a:r>
              <a:rPr dirty="0" err="1"/>
              <a:t>미리</a:t>
            </a:r>
            <a:r>
              <a:rPr dirty="0"/>
              <a:t> </a:t>
            </a:r>
            <a:r>
              <a:rPr dirty="0" err="1"/>
              <a:t>기억해</a:t>
            </a:r>
            <a:r>
              <a:rPr dirty="0"/>
              <a:t> </a:t>
            </a:r>
            <a:r>
              <a:rPr dirty="0" err="1"/>
              <a:t>두었다가</a:t>
            </a:r>
            <a:r>
              <a:rPr dirty="0"/>
              <a:t>,</a:t>
            </a:r>
            <a:br>
              <a:rPr dirty="0"/>
            </a:br>
            <a:r>
              <a:rPr dirty="0" err="1"/>
              <a:t>실패했을</a:t>
            </a:r>
            <a:r>
              <a:rPr dirty="0"/>
              <a:t> 때 </a:t>
            </a:r>
            <a:r>
              <a:rPr dirty="0" err="1"/>
              <a:t>적절한</a:t>
            </a:r>
            <a:r>
              <a:rPr dirty="0"/>
              <a:t> </a:t>
            </a:r>
            <a:r>
              <a:rPr dirty="0" err="1"/>
              <a:t>위치로</a:t>
            </a:r>
            <a:r>
              <a:rPr dirty="0"/>
              <a:t> </a:t>
            </a:r>
            <a:r>
              <a:rPr dirty="0" err="1"/>
              <a:t>되돌림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KMP 코드의 두 단계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4800600" cy="1828800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252728"/>
            <a:ext cx="4581144" cy="1627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Consolas"/>
              </a:defRPr>
            </a:pPr>
            <a:r>
              <a:t># 1단계: 패턴만 분석</a:t>
            </a:r>
            <a:br/>
            <a:r>
              <a:t>pt = 1; pp = 0</a:t>
            </a:r>
            <a:br/>
            <a:r>
              <a:t>while pt != len(pat):</a:t>
            </a:r>
            <a:br/>
            <a:r>
              <a:t>    ...</a:t>
            </a:r>
            <a:br/>
            <a:r>
              <a:t>    skip[pt] = 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1143000"/>
            <a:ext cx="4800600" cy="1828800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9048" y="1252728"/>
            <a:ext cx="4581144" cy="1627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Consolas"/>
              </a:defRPr>
            </a:pPr>
            <a:r>
              <a:t># 2단계: 실제 검색</a:t>
            </a:r>
            <a:br/>
            <a:r>
              <a:t>pt = pp = 0</a:t>
            </a:r>
            <a:br/>
            <a:r>
              <a:t>while pt != len(txt) and pp != len(pat):</a:t>
            </a:r>
            <a:br/>
            <a:r>
              <a:t>    ...</a:t>
            </a:r>
            <a:br/>
            <a:r>
              <a:t>    pp = skip[pp]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337560"/>
            <a:ext cx="3931920" cy="91440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3383279"/>
            <a:ext cx="3858768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1단계의 pt, pp</a:t>
            </a:r>
            <a:br/>
            <a:r>
              <a:t>둘 다 패턴 내부 위치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337560"/>
            <a:ext cx="3931920" cy="91440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7376" y="3383279"/>
            <a:ext cx="3858768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2단계의 pt, pp</a:t>
            </a:r>
            <a:br/>
            <a:r>
              <a:t>pt: 텍스트 위치 / pp: 패턴 위치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463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Malgun Gothic"/>
              </a:defRPr>
            </a:pPr>
            <a:r>
              <a:t>따라서 KMP는 “skip 배열 만들기”와 “skip을 이용해 검색하기”를 분리해서 설명해야 함.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KMP 예제 문자열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56A0"/>
                </a:solidFill>
                <a:latin typeface="Malgun Gothic"/>
              </a:defRPr>
            </a:pPr>
            <a:r>
              <a:t>텍스트 txt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5133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105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6424" y="146304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" y="15133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18105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27048" y="146304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27048" y="15133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8105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47672" y="146304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47672" y="15133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7672" y="18105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68296" y="146304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68296" y="15133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8296" y="18105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146304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88920" y="15133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18105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9544" y="146304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9544" y="15133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9544" y="18105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30168" y="146304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30168" y="15133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0168" y="18105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50791" y="146304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050791" y="15133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50791" y="18105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71416" y="146304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71416" y="15133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1416" y="18105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146304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92040" y="15133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18105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12664" y="146304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12664" y="15133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12664" y="18105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33288" y="146304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33288" y="15133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33288" y="18105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56A0"/>
                </a:solidFill>
                <a:latin typeface="Malgun Gothic"/>
              </a:defRPr>
            </a:pPr>
            <a:r>
              <a:t>패턴 pat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26974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5800" y="27477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30449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6424" y="26974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06424" y="27477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" y="30449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27048" y="26974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527048" y="27477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7048" y="30449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6974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947672" y="27477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47672" y="30449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68296" y="26974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368296" y="27477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68296" y="30449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88920" y="26974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788920" y="27477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88920" y="30449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132320" y="1325880"/>
            <a:ext cx="3291840" cy="91440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26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168896" y="1371600"/>
            <a:ext cx="3218688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656A0"/>
                </a:solidFill>
                <a:latin typeface="Malgun Gothic"/>
              </a:defRPr>
            </a:pPr>
            <a:r>
              <a:t>정답 위치</a:t>
            </a:r>
            <a:br/>
            <a:r>
              <a:t>Python index = 7</a:t>
            </a:r>
            <a:br/>
            <a:r>
              <a:t>사람 기준 = 8번째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92224" y="4514932"/>
            <a:ext cx="940917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  <a:latin typeface="Malgun Gothic"/>
              </a:defRPr>
            </a:pPr>
            <a:r>
              <a:t>바로 답을 보지 않고, KMP가 7번 위치를 찾는 과정을 pt, pp, skip 흐름으로 추적함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KMP의 skip 배열 의미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78992"/>
            <a:ext cx="3840480" cy="685800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188719"/>
            <a:ext cx="3621024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Consolas"/>
              </a:defRPr>
            </a:pPr>
            <a:r>
              <a:t>pat = 'ABCABD'</a:t>
            </a:r>
            <a:br/>
            <a:r>
              <a:t>skip = [0] * (len(pat) + 1)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760995"/>
              </p:ext>
            </p:extLst>
          </p:nvPr>
        </p:nvGraphicFramePr>
        <p:xfrm>
          <a:off x="685800" y="1965960"/>
          <a:ext cx="9692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skip index</a:t>
                      </a:r>
                    </a:p>
                  </a:txBody>
                  <a:tcPr marL="45720" marR="45720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 marL="45720" marR="45720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 marL="45720" marR="45720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rPr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L="45720" marR="45720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rPr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marL="45720" marR="45720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 marL="45720" marR="45720"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본 패턴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-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AB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ABC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rPr>
                          <a:solidFill>
                            <a:srgbClr val="FF0000"/>
                          </a:solidFill>
                        </a:rPr>
                        <a:t>ABCA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rPr dirty="0">
                          <a:solidFill>
                            <a:srgbClr val="FF0000"/>
                          </a:solidFill>
                        </a:rPr>
                        <a:t>ABCAB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ABCABD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skip 값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rPr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rPr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251960"/>
            <a:ext cx="9784080" cy="109728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4389120"/>
            <a:ext cx="9454896" cy="574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Malgun Gothic"/>
              </a:defRPr>
            </a:pPr>
            <a:r>
              <a:rPr dirty="0" err="1"/>
              <a:t>skip은</a:t>
            </a:r>
            <a:r>
              <a:rPr dirty="0"/>
              <a:t> </a:t>
            </a:r>
            <a:r>
              <a:rPr dirty="0" err="1"/>
              <a:t>문자</a:t>
            </a:r>
            <a:r>
              <a:rPr dirty="0"/>
              <a:t> </a:t>
            </a:r>
            <a:r>
              <a:rPr dirty="0" err="1"/>
              <a:t>위치가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“</a:t>
            </a:r>
            <a:r>
              <a:rPr dirty="0">
                <a:solidFill>
                  <a:srgbClr val="FF0000"/>
                </a:solidFill>
              </a:rPr>
              <a:t>몇 </a:t>
            </a:r>
            <a:r>
              <a:rPr dirty="0" err="1">
                <a:solidFill>
                  <a:srgbClr val="FF0000"/>
                </a:solidFill>
              </a:rPr>
              <a:t>글자까지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봤는가</a:t>
            </a:r>
            <a:r>
              <a:rPr dirty="0" err="1"/>
              <a:t>”를</a:t>
            </a:r>
            <a:r>
              <a:rPr dirty="0"/>
              <a:t> </a:t>
            </a:r>
            <a:r>
              <a:rPr dirty="0" err="1"/>
              <a:t>저장함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Malgun Gothic"/>
              </a:defRPr>
            </a:pPr>
            <a:r>
              <a:rPr dirty="0" err="1"/>
              <a:t>따라서</a:t>
            </a:r>
            <a:r>
              <a:rPr dirty="0"/>
              <a:t> 0글자부터 </a:t>
            </a:r>
            <a:r>
              <a:rPr dirty="0" err="1"/>
              <a:t>len</a:t>
            </a:r>
            <a:r>
              <a:rPr dirty="0"/>
              <a:t>(pat)</a:t>
            </a:r>
            <a:r>
              <a:rPr dirty="0" err="1"/>
              <a:t>글자까지</a:t>
            </a:r>
            <a:r>
              <a:rPr dirty="0"/>
              <a:t> </a:t>
            </a:r>
            <a:r>
              <a:rPr dirty="0" err="1"/>
              <a:t>필요하므로</a:t>
            </a:r>
            <a:r>
              <a:rPr dirty="0"/>
              <a:t> </a:t>
            </a:r>
            <a:r>
              <a:rPr dirty="0" err="1"/>
              <a:t>len</a:t>
            </a:r>
            <a:r>
              <a:rPr dirty="0"/>
              <a:t>(pat)+1칸 </a:t>
            </a:r>
            <a:r>
              <a:rPr dirty="0" err="1"/>
              <a:t>생성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왜 skip[4] = 1인가?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08760"/>
            <a:ext cx="7315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9051"/>
            <a:ext cx="7315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56231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1508760"/>
            <a:ext cx="7315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1559051"/>
            <a:ext cx="7315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56231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508760"/>
            <a:ext cx="7315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40" y="1559051"/>
            <a:ext cx="7315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856231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508760"/>
            <a:ext cx="7315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1559051"/>
            <a:ext cx="7315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856231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182880" y="24050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656A0"/>
                </a:solidFill>
                <a:latin typeface="Malgun Gothic"/>
              </a:defRPr>
            </a:pPr>
            <a:r>
              <a:rPr dirty="0" err="1"/>
              <a:t>앞쪽</a:t>
            </a:r>
            <a:r>
              <a:rPr dirty="0"/>
              <a:t>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4050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656A0"/>
                </a:solidFill>
                <a:latin typeface="Malgun Gothic"/>
              </a:defRPr>
            </a:pPr>
            <a:r>
              <a:rPr dirty="0" err="1"/>
              <a:t>뒤쪽</a:t>
            </a:r>
            <a:r>
              <a:rPr dirty="0"/>
              <a:t> 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1508760"/>
            <a:ext cx="4206240" cy="146304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14416" y="1554480"/>
            <a:ext cx="4133087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41414"/>
                </a:solidFill>
                <a:latin typeface="Malgun Gothic"/>
              </a:defRPr>
            </a:pPr>
            <a:r>
              <a:t>ABCA에서</a:t>
            </a:r>
            <a:br/>
            <a:r>
              <a:t>앞부분: A</a:t>
            </a:r>
            <a:br/>
            <a:r>
              <a:t>뒷부분: A</a:t>
            </a:r>
            <a:br/>
            <a:r>
              <a:t>같은 길이: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404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Malgun Gothic"/>
              </a:defRPr>
            </a:pPr>
            <a:r>
              <a:t>따라서 skip[4] = 1임. 단, skip[4]는 pat[4]의 정보가 아니라 “앞에서 4글자까지 본 결과”임.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왜 skip[5] = 2인가?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17320"/>
            <a:ext cx="68580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7612"/>
            <a:ext cx="68580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64792"/>
            <a:ext cx="68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1417320"/>
            <a:ext cx="68580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00200" y="1467612"/>
            <a:ext cx="68580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64792"/>
            <a:ext cx="68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417320"/>
            <a:ext cx="68580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0" y="1467612"/>
            <a:ext cx="68580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764792"/>
            <a:ext cx="68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1417320"/>
            <a:ext cx="68580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1800" y="1467612"/>
            <a:ext cx="68580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764792"/>
            <a:ext cx="68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1417320"/>
            <a:ext cx="68580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1467612"/>
            <a:ext cx="68580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764792"/>
            <a:ext cx="68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656A0"/>
                </a:solidFill>
                <a:latin typeface="Malgun Gothic"/>
              </a:defRPr>
            </a:pPr>
            <a:r>
              <a:t>앞쪽 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656A0"/>
                </a:solidFill>
                <a:latin typeface="Malgun Gothic"/>
              </a:defRPr>
            </a:pPr>
            <a:r>
              <a:t>뒤쪽 AB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1463040"/>
            <a:ext cx="4297680" cy="137160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22976" y="1508760"/>
            <a:ext cx="4224528" cy="1280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41414"/>
                </a:solidFill>
                <a:latin typeface="Malgun Gothic"/>
              </a:defRPr>
            </a:pPr>
            <a:r>
              <a:t>ABCAB에서</a:t>
            </a:r>
            <a:br/>
            <a:r>
              <a:t>앞부분: AB</a:t>
            </a:r>
            <a:br/>
            <a:r>
              <a:t>뒷부분: AB</a:t>
            </a:r>
            <a:br/>
            <a:r>
              <a:t>같은 길이: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703320"/>
            <a:ext cx="105969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Malgun Gothic"/>
              </a:defRPr>
            </a:pPr>
            <a:r>
              <a:rPr dirty="0" err="1"/>
              <a:t>검색</a:t>
            </a:r>
            <a:r>
              <a:rPr dirty="0"/>
              <a:t> 중 </a:t>
            </a:r>
            <a:r>
              <a:rPr dirty="0" err="1"/>
              <a:t>ABCAB까지</a:t>
            </a:r>
            <a:r>
              <a:rPr dirty="0"/>
              <a:t> </a:t>
            </a:r>
            <a:r>
              <a:rPr dirty="0" err="1"/>
              <a:t>맞고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글자에서</a:t>
            </a:r>
            <a:r>
              <a:rPr dirty="0"/>
              <a:t> </a:t>
            </a:r>
            <a:r>
              <a:rPr dirty="0" err="1"/>
              <a:t>실패하면</a:t>
            </a:r>
            <a:r>
              <a:rPr dirty="0"/>
              <a:t>, </a:t>
            </a:r>
            <a:r>
              <a:rPr dirty="0" err="1"/>
              <a:t>마지막</a:t>
            </a:r>
            <a:r>
              <a:rPr dirty="0"/>
              <a:t> </a:t>
            </a:r>
            <a:r>
              <a:rPr dirty="0" err="1"/>
              <a:t>AB를</a:t>
            </a:r>
            <a:r>
              <a:rPr dirty="0"/>
              <a:t> </a:t>
            </a:r>
            <a:r>
              <a:rPr dirty="0" err="1"/>
              <a:t>패턴의</a:t>
            </a:r>
            <a:r>
              <a:rPr dirty="0"/>
              <a:t> </a:t>
            </a:r>
            <a:r>
              <a:rPr dirty="0" err="1"/>
              <a:t>처음</a:t>
            </a:r>
            <a:r>
              <a:rPr dirty="0"/>
              <a:t> </a:t>
            </a:r>
            <a:r>
              <a:rPr dirty="0" err="1"/>
              <a:t>AB로</a:t>
            </a:r>
            <a:r>
              <a:rPr dirty="0"/>
              <a:t> </a:t>
            </a:r>
            <a:r>
              <a:rPr dirty="0" err="1"/>
              <a:t>재활용하여</a:t>
            </a:r>
            <a:r>
              <a:rPr dirty="0"/>
              <a:t> </a:t>
            </a:r>
            <a:r>
              <a:rPr dirty="0" err="1"/>
              <a:t>pp를</a:t>
            </a:r>
            <a:r>
              <a:rPr dirty="0"/>
              <a:t> 2로 </a:t>
            </a:r>
            <a:r>
              <a:rPr dirty="0" err="1"/>
              <a:t>되돌림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skip 배열 만드는 코드 읽기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8375" y="1280160"/>
            <a:ext cx="433425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Malgun Gothic"/>
              </a:defRPr>
            </a:pPr>
            <a:r>
              <a:rPr dirty="0" err="1"/>
              <a:t>문자가</a:t>
            </a:r>
            <a:r>
              <a:rPr dirty="0"/>
              <a:t> </a:t>
            </a:r>
            <a:r>
              <a:rPr dirty="0" err="1"/>
              <a:t>같으면</a:t>
            </a:r>
            <a:r>
              <a:rPr dirty="0"/>
              <a:t>: </a:t>
            </a:r>
            <a:r>
              <a:rPr dirty="0" err="1"/>
              <a:t>겹치는</a:t>
            </a:r>
            <a:r>
              <a:rPr dirty="0"/>
              <a:t> </a:t>
            </a:r>
            <a:r>
              <a:rPr dirty="0" err="1"/>
              <a:t>길이가</a:t>
            </a:r>
            <a:r>
              <a:rPr dirty="0"/>
              <a:t> </a:t>
            </a:r>
            <a:r>
              <a:rPr dirty="0" err="1"/>
              <a:t>늘어남</a:t>
            </a:r>
            <a:r>
              <a:rPr dirty="0"/>
              <a:t> → pt, pp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증가</a:t>
            </a:r>
            <a:endParaRPr dirty="0"/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Malgun Gothic"/>
              </a:defRPr>
            </a:pPr>
            <a:r>
              <a:rPr dirty="0" err="1"/>
              <a:t>문자가</a:t>
            </a:r>
            <a:r>
              <a:rPr dirty="0"/>
              <a:t> </a:t>
            </a:r>
            <a:r>
              <a:rPr dirty="0" err="1"/>
              <a:t>다르고</a:t>
            </a:r>
            <a:r>
              <a:rPr dirty="0"/>
              <a:t> pp==0이면: </a:t>
            </a:r>
            <a:r>
              <a:rPr dirty="0" err="1"/>
              <a:t>겹침이</a:t>
            </a:r>
            <a:r>
              <a:rPr dirty="0"/>
              <a:t> </a:t>
            </a:r>
            <a:r>
              <a:rPr dirty="0" err="1"/>
              <a:t>없음</a:t>
            </a:r>
            <a:r>
              <a:rPr dirty="0"/>
              <a:t> → </a:t>
            </a:r>
            <a:r>
              <a:rPr dirty="0" err="1"/>
              <a:t>pt만</a:t>
            </a:r>
            <a:r>
              <a:rPr dirty="0"/>
              <a:t> </a:t>
            </a:r>
            <a:r>
              <a:rPr dirty="0" err="1"/>
              <a:t>증가</a:t>
            </a:r>
            <a:endParaRPr dirty="0"/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Malgun Gothic"/>
              </a:defRPr>
            </a:pPr>
            <a:r>
              <a:rPr dirty="0" err="1"/>
              <a:t>문자가</a:t>
            </a:r>
            <a:r>
              <a:rPr dirty="0"/>
              <a:t> </a:t>
            </a:r>
            <a:r>
              <a:rPr dirty="0" err="1"/>
              <a:t>다르고</a:t>
            </a:r>
            <a:r>
              <a:rPr dirty="0"/>
              <a:t> pp!=0이면: 더 </a:t>
            </a:r>
            <a:r>
              <a:rPr dirty="0" err="1"/>
              <a:t>짧은</a:t>
            </a:r>
            <a:r>
              <a:rPr dirty="0"/>
              <a:t> </a:t>
            </a:r>
            <a:r>
              <a:rPr dirty="0" err="1"/>
              <a:t>겹침</a:t>
            </a:r>
            <a:r>
              <a:rPr dirty="0"/>
              <a:t> </a:t>
            </a:r>
            <a:r>
              <a:rPr dirty="0" err="1"/>
              <a:t>후보로</a:t>
            </a:r>
            <a:r>
              <a:rPr dirty="0"/>
              <a:t> </a:t>
            </a:r>
            <a:r>
              <a:rPr dirty="0" err="1"/>
              <a:t>pp를</a:t>
            </a:r>
            <a:r>
              <a:rPr dirty="0"/>
              <a:t> </a:t>
            </a:r>
            <a:r>
              <a:rPr dirty="0" err="1"/>
              <a:t>되돌림</a:t>
            </a:r>
            <a:endParaRPr dirty="0"/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Malgun Gothic"/>
              </a:defRPr>
            </a:pPr>
            <a:r>
              <a:rPr dirty="0" err="1"/>
              <a:t>결과</a:t>
            </a:r>
            <a:r>
              <a:rPr dirty="0"/>
              <a:t>: [0, 0, 0, 0, 1, 2, 0]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3410F9-9411-5BD1-AC18-F43FDA32225D}"/>
              </a:ext>
            </a:extLst>
          </p:cNvPr>
          <p:cNvSpPr txBox="1"/>
          <p:nvPr/>
        </p:nvSpPr>
        <p:spPr>
          <a:xfrm>
            <a:off x="411480" y="1280160"/>
            <a:ext cx="581422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kmp_match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pt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txt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 따라가는 커서 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pp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pat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 따라가는 커서 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skip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(pat)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buNone/>
            </a:pPr>
            <a:r>
              <a:rPr lang="en-US" altLang="ko-KR" sz="12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건너뛰기 표  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앞에서부터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pt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글자까지 봤을 때의 정보 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건너뛰기 표 만들기 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skip[pt]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pt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(pat):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pat[pt]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pat[pp]: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pt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pp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skip[pt]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pp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pp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pt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skip[pt]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pp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pp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skip[pp]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검색 단계의 변수 의미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2815" y="1606037"/>
            <a:ext cx="340156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pt = 텍스트 txt의 현재 위치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2815" y="2566157"/>
            <a:ext cx="340156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pp = 패턴 pat의 현재 위치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4471" y="4931923"/>
            <a:ext cx="5468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56A0"/>
                </a:solidFill>
                <a:latin typeface="Malgun Gothic"/>
              </a:defRPr>
            </a:pPr>
            <a:r>
              <a:rPr dirty="0" err="1"/>
              <a:t>불일치가</a:t>
            </a:r>
            <a:r>
              <a:rPr dirty="0"/>
              <a:t> </a:t>
            </a:r>
            <a:r>
              <a:rPr dirty="0" err="1"/>
              <a:t>발생하면</a:t>
            </a:r>
            <a:r>
              <a:rPr dirty="0"/>
              <a:t> </a:t>
            </a:r>
            <a:r>
              <a:rPr dirty="0" err="1"/>
              <a:t>pp가</a:t>
            </a:r>
            <a:r>
              <a:rPr dirty="0"/>
              <a:t> 0인지 </a:t>
            </a:r>
            <a:r>
              <a:rPr dirty="0" err="1"/>
              <a:t>아닌지가</a:t>
            </a:r>
            <a:r>
              <a:rPr dirty="0"/>
              <a:t> </a:t>
            </a:r>
            <a:r>
              <a:rPr dirty="0" err="1"/>
              <a:t>핵심임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FA5A0B-348E-4225-6C74-96F9068CAD4B}"/>
              </a:ext>
            </a:extLst>
          </p:cNvPr>
          <p:cNvSpPr txBox="1"/>
          <p:nvPr/>
        </p:nvSpPr>
        <p:spPr>
          <a:xfrm>
            <a:off x="193516" y="1345705"/>
            <a:ext cx="6790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검색하기 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pt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pp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pt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(txt) </a:t>
            </a:r>
            <a:r>
              <a:rPr lang="en-US" altLang="ko-K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pp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(pat):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txt[pt]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pat[pp]: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문자가 같으면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,pt, pp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둘 다 오른쪽 이동 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pt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pp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pp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pp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이면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txt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pt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증가 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pt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문자가 다른데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pp != 0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이면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skip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사용 즉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패턴의 앞부분은 어느 정도 맞았고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중간에서 틀린 상황 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pp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skip[pp]</a:t>
            </a:r>
          </a:p>
          <a:p>
            <a:pPr>
              <a:buNone/>
            </a:pPr>
            <a:b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pt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pp </a:t>
            </a:r>
            <a:r>
              <a:rPr lang="en-US" altLang="ko-KR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pp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(pat) </a:t>
            </a:r>
            <a:r>
              <a:rPr lang="en-US" altLang="ko-KR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KMP 검색 규칙 ① 문자가 같으면 둘 다 이동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141732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3172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3464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3756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251460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256489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8620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5880" y="251460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25880" y="256489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28620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0" y="251460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28800" y="256489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28620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251460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31720" y="256489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28620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251460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34640" y="256489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28620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37560" y="251460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37560" y="256489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37560" y="28620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60720" y="1417320"/>
            <a:ext cx="4206240" cy="1097280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870448" y="1527048"/>
            <a:ext cx="3986783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  <a:latin typeface="Consolas"/>
              </a:defRPr>
            </a:pPr>
            <a:r>
              <a:t>if txt[pt] == pat[pp]:</a:t>
            </a:r>
            <a:br/>
            <a:r>
              <a:t>    pt += 1</a:t>
            </a:r>
            <a:br/>
            <a:r>
              <a:t>    pp += 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0" y="2880360"/>
            <a:ext cx="4206240" cy="77724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797296" y="2926079"/>
            <a:ext cx="4133087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41414"/>
                </a:solidFill>
                <a:latin typeface="Malgun Gothic"/>
              </a:defRPr>
            </a:pPr>
            <a:r>
              <a:t>예: txt[1]=A, pat[0]=A</a:t>
            </a:r>
            <a:br/>
            <a:r>
              <a:t>일치 → pt: 1→2, pp: 0→1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KMP 검색 규칙 ② 첫 글자부터 틀리면 txt만 이동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3172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3464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3756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251460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256489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8620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5880" y="251460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25880" y="256489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28620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0" y="251460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28800" y="256489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28620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251460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31720" y="256489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28620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251460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34640" y="256489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28620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37560" y="251460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37560" y="256489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37560" y="28620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60720" y="1417320"/>
            <a:ext cx="4206240" cy="868680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870448" y="1527048"/>
            <a:ext cx="3986783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  <a:latin typeface="Consolas"/>
              </a:defRPr>
            </a:pPr>
            <a:r>
              <a:t>elif pp == 0:</a:t>
            </a:r>
            <a:br/>
            <a:r>
              <a:t>    pt += 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0" y="2743200"/>
            <a:ext cx="4206240" cy="91440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797296" y="2788920"/>
            <a:ext cx="4133087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41414"/>
                </a:solidFill>
                <a:latin typeface="Malgun Gothic"/>
              </a:defRPr>
            </a:pPr>
            <a:r>
              <a:t>예: txt[0]=Z, pat[0]=A</a:t>
            </a:r>
            <a:br/>
            <a:r>
              <a:t>불일치 + pp==0</a:t>
            </a:r>
            <a:br/>
            <a:r>
              <a:t>→ pt만 1 증가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중요 실패 지점: pt = 6, pp = 5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1732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676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6479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6424" y="1417320"/>
            <a:ext cx="420624" cy="329184"/>
          </a:xfrm>
          <a:prstGeom prst="rect">
            <a:avLst/>
          </a:prstGeom>
          <a:solidFill>
            <a:srgbClr val="EEF0F2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" y="14676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176479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7048" y="1417320"/>
            <a:ext cx="420624" cy="329184"/>
          </a:xfrm>
          <a:prstGeom prst="rect">
            <a:avLst/>
          </a:prstGeom>
          <a:solidFill>
            <a:srgbClr val="EEF0F2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27048" y="14676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76479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7672" y="1417320"/>
            <a:ext cx="420624" cy="329184"/>
          </a:xfrm>
          <a:prstGeom prst="rect">
            <a:avLst/>
          </a:prstGeom>
          <a:solidFill>
            <a:srgbClr val="EEF0F2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47672" y="14676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7672" y="176479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68296" y="1417320"/>
            <a:ext cx="420624" cy="329184"/>
          </a:xfrm>
          <a:prstGeom prst="rect">
            <a:avLst/>
          </a:prstGeom>
          <a:solidFill>
            <a:srgbClr val="EEF0F2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68296" y="14676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68296" y="176479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1417320"/>
            <a:ext cx="420624" cy="329184"/>
          </a:xfrm>
          <a:prstGeom prst="rect">
            <a:avLst/>
          </a:prstGeom>
          <a:solidFill>
            <a:srgbClr val="EEF0F2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88920" y="14676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176479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9544" y="141732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9544" y="14676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9544" y="176479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30168" y="141732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30168" y="14676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0168" y="176479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50791" y="141732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50791" y="14676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50791" y="176479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71416" y="141732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71416" y="14676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1416" y="176479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141732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92040" y="14676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176479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12664" y="141732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12664" y="14676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12664" y="176479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33288" y="141732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733288" y="14676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33288" y="176479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06424" y="242316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06424" y="247345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" y="277063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27048" y="242316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527048" y="247345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7048" y="277063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242316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947672" y="247345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277063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68296" y="242316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368296" y="247345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68296" y="277063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88920" y="242316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788920" y="247345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88920" y="277063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9544" y="242316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209544" y="247345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9544" y="277063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4848"/>
                </a:solidFill>
                <a:latin typeface="Malgun Gothic"/>
              </a:defRPr>
            </a:pPr>
            <a:r>
              <a:t>txt[6] = 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4848"/>
                </a:solidFill>
                <a:latin typeface="Malgun Gothic"/>
              </a:defRPr>
            </a:pPr>
            <a:r>
              <a:t>pat[5] = 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84848"/>
                </a:solidFill>
                <a:latin typeface="Malgun Gothic"/>
              </a:defRPr>
            </a:pPr>
            <a:r>
              <a:t>X ≠ 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" y="3749039"/>
            <a:ext cx="9784080" cy="109728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50392" y="3886200"/>
            <a:ext cx="9454896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Malgun Gothic"/>
              </a:defRPr>
            </a:pPr>
            <a:r>
              <a:t>pp = 5라는 것은 pat[0]~pat[4], 즉 ABCAB까지 이미 맞았다는 뜻임.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Malgun Gothic"/>
              </a:defRPr>
            </a:pPr>
            <a:r>
              <a:t>따라서 완전히 처음으로 돌아가지 않고 skip[5]를 확인함.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pp = skip[pp]가 실행되는 순간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097280"/>
            <a:ext cx="3931920" cy="1234440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1207007"/>
            <a:ext cx="3712463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Consolas"/>
              </a:defRPr>
            </a:pPr>
            <a:r>
              <a:t>else:</a:t>
            </a:r>
            <a:br/>
            <a:r>
              <a:t>    pp = skip[pp]</a:t>
            </a:r>
            <a:br/>
            <a:br/>
            <a:r>
              <a:t># 현재 pp = 5</a:t>
            </a:r>
            <a:br/>
            <a:r>
              <a:t>pp = skip[5]  #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188720"/>
            <a:ext cx="1920240" cy="73152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05856" y="1234440"/>
            <a:ext cx="184708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실행 전</a:t>
            </a:r>
            <a:br/>
            <a:r>
              <a:t>pt=6, pp=5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26679" y="1554480"/>
            <a:ext cx="822961" cy="0"/>
          </a:xfrm>
          <a:prstGeom prst="line">
            <a:avLst/>
          </a:prstGeom>
          <a:ln w="22860">
            <a:solidFill>
              <a:srgbClr val="265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732520" y="1188720"/>
            <a:ext cx="1920240" cy="73152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69096" y="1234440"/>
            <a:ext cx="184708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실행 후</a:t>
            </a:r>
            <a:br/>
            <a:r>
              <a:t>pt=6, pp=2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91840"/>
            <a:ext cx="64008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42132"/>
            <a:ext cx="64008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3931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3291840"/>
            <a:ext cx="64008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54480" y="3342132"/>
            <a:ext cx="64008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3931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3291840"/>
            <a:ext cx="64008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94560" y="3342132"/>
            <a:ext cx="64008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63931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39" y="3291840"/>
            <a:ext cx="64008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34639" y="3342132"/>
            <a:ext cx="64008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39" y="363931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3291840"/>
            <a:ext cx="64008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0" y="3342132"/>
            <a:ext cx="64008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63931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310128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56A0"/>
                </a:solidFill>
                <a:latin typeface="Malgun Gothic"/>
              </a:defRPr>
            </a:pPr>
            <a:r>
              <a:t>ABCAB 안에서 앞쪽 AB와 뒤쪽 AB가 같으므로</a:t>
            </a:r>
            <a:br/>
            <a:r>
              <a:t>skip[5] =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왜 pp가 2가 되는가?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25880"/>
            <a:ext cx="7315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376172"/>
            <a:ext cx="7315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73352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1325880"/>
            <a:ext cx="7315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00200" y="1376172"/>
            <a:ext cx="7315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73352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325880"/>
            <a:ext cx="7315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31720" y="1376172"/>
            <a:ext cx="7315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673352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1325880"/>
            <a:ext cx="7315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63240" y="1376172"/>
            <a:ext cx="7315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1673352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1325880"/>
            <a:ext cx="7315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94760" y="1376172"/>
            <a:ext cx="7315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1673352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3591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56A0"/>
                </a:solidFill>
                <a:latin typeface="Malgun Gothic"/>
              </a:defRPr>
            </a:pPr>
            <a:r>
              <a:t>앞쪽 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3591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56A0"/>
                </a:solidFill>
                <a:latin typeface="Malgun Gothic"/>
              </a:defRPr>
            </a:pPr>
            <a:r>
              <a:t>뒤쪽 AB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1325880"/>
            <a:ext cx="594360" cy="329184"/>
          </a:xfrm>
          <a:prstGeom prst="rect">
            <a:avLst/>
          </a:prstGeom>
          <a:solidFill>
            <a:srgbClr val="EEF0F2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0" y="1376172"/>
            <a:ext cx="59436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167335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1325880"/>
            <a:ext cx="594360" cy="329184"/>
          </a:xfrm>
          <a:prstGeom prst="rect">
            <a:avLst/>
          </a:prstGeom>
          <a:solidFill>
            <a:srgbClr val="EEF0F2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80760" y="1376172"/>
            <a:ext cx="59436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167335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1325880"/>
            <a:ext cx="59436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1376172"/>
            <a:ext cx="59436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167335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9480" y="1325880"/>
            <a:ext cx="59436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69480" y="1376172"/>
            <a:ext cx="59436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167335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1325880"/>
            <a:ext cx="59436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0" y="1376172"/>
            <a:ext cx="59436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167335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58200" y="1325880"/>
            <a:ext cx="59436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58200" y="1376172"/>
            <a:ext cx="59436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167335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2359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56A0"/>
                </a:solidFill>
                <a:latin typeface="Malgun Gothic"/>
              </a:defRPr>
            </a:pPr>
            <a:r>
              <a:t>pp =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3657600"/>
            <a:ext cx="1027921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2D2D"/>
                </a:solidFill>
                <a:latin typeface="Malgun Gothic"/>
              </a:defRPr>
            </a:pPr>
            <a:r>
              <a:rPr dirty="0" err="1"/>
              <a:t>KMP의</a:t>
            </a:r>
            <a:r>
              <a:rPr dirty="0"/>
              <a:t> </a:t>
            </a:r>
            <a:r>
              <a:rPr dirty="0" err="1"/>
              <a:t>판단</a:t>
            </a:r>
            <a:endParaRPr lang="en-US" dirty="0"/>
          </a:p>
          <a:p>
            <a:pPr>
              <a:defRPr sz="1700" b="1">
                <a:solidFill>
                  <a:srgbClr val="2D2D2D"/>
                </a:solidFill>
                <a:latin typeface="Malgun Gothic"/>
              </a:defRPr>
            </a:pPr>
            <a:r>
              <a:rPr lang="en-US" dirty="0"/>
              <a:t> - </a:t>
            </a:r>
            <a:r>
              <a:rPr dirty="0">
                <a:solidFill>
                  <a:srgbClr val="FF0000"/>
                </a:solidFill>
              </a:rPr>
              <a:t>“</a:t>
            </a:r>
            <a:r>
              <a:rPr dirty="0" err="1">
                <a:solidFill>
                  <a:srgbClr val="FF0000"/>
                </a:solidFill>
              </a:rPr>
              <a:t>마지막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AB는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패턴의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처음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AB와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같다</a:t>
            </a:r>
            <a:r>
              <a:rPr dirty="0">
                <a:solidFill>
                  <a:srgbClr val="FF0000"/>
                </a:solidFill>
              </a:rPr>
              <a:t>. </a:t>
            </a:r>
            <a:r>
              <a:rPr dirty="0" err="1">
                <a:solidFill>
                  <a:srgbClr val="FF0000"/>
                </a:solidFill>
              </a:rPr>
              <a:t>그러므로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AB는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다시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비교하지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말고</a:t>
            </a:r>
            <a:r>
              <a:rPr dirty="0">
                <a:solidFill>
                  <a:srgbClr val="FF0000"/>
                </a:solidFill>
              </a:rPr>
              <a:t>, 그 </a:t>
            </a:r>
            <a:r>
              <a:rPr dirty="0" err="1">
                <a:solidFill>
                  <a:srgbClr val="FF0000"/>
                </a:solidFill>
              </a:rPr>
              <a:t>다음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C부터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비교하자</a:t>
            </a:r>
            <a:r>
              <a:rPr dirty="0">
                <a:solidFill>
                  <a:srgbClr val="FF0000"/>
                </a:solidFill>
              </a:rPr>
              <a:t>.”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pp가 2가 된 뒤에도 X는 아직 안 맞음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6424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7048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27048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7672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47672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7672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68296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68296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68296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88920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9544" y="132588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9544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9544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30168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30168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0168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50791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50791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50791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71416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71416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1416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92040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12664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12664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12664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33288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733288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33288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68296" y="233172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368296" y="23820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68296" y="2679191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88920" y="233172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88920" y="23820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88920" y="2679191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9544" y="233172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09544" y="23820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9544" y="2679191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30168" y="233172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30168" y="23820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30168" y="2679191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50791" y="233172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50791" y="23820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50791" y="2679191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71416" y="233172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471416" y="23820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71416" y="2679191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0" y="1417320"/>
            <a:ext cx="3931920" cy="68580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37376" y="1463040"/>
            <a:ext cx="3858768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C84848"/>
                </a:solidFill>
                <a:latin typeface="Malgun Gothic"/>
              </a:defRPr>
            </a:pPr>
            <a:r>
              <a:t>txt[6] = X, pat[2] = C → 불일치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2331720"/>
            <a:ext cx="3931920" cy="960120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510528" y="2441448"/>
            <a:ext cx="3712463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  <a:latin typeface="Consolas"/>
              </a:defRPr>
            </a:pPr>
            <a:r>
              <a:t>pp = skip[2]</a:t>
            </a:r>
            <a:br/>
            <a:r>
              <a:t>pp = 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40690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Malgun Gothic"/>
              </a:defRPr>
            </a:pPr>
            <a:r>
              <a:t>여전히 pt는 6임. KMP는 가능한 재활용을 모두 확인한 뒤 텍스트 위치를 넘김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pp가 0이 되면 txt를 한 칸 넘김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6424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7048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27048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7672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47672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7672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68296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68296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68296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88920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9544" y="132588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9544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9544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30168" y="1325880"/>
            <a:ext cx="420624" cy="329184"/>
          </a:xfrm>
          <a:prstGeom prst="rect">
            <a:avLst/>
          </a:prstGeom>
          <a:solidFill>
            <a:srgbClr val="EEF0F2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30168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0168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50791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50791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50791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71416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71416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1416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92040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12664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12664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12664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33288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733288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33288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9544" y="233172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09544" y="23820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9544" y="2679191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30168" y="233172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30168" y="23820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30168" y="2679191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50792" y="233172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050792" y="23820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50792" y="2679191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71416" y="233172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471416" y="23820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71416" y="2679191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92040" y="233172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892040" y="23820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92040" y="2679191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12664" y="233172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312664" y="23820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12664" y="2679191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75120" y="1325880"/>
            <a:ext cx="3474720" cy="64008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711696" y="1371600"/>
            <a:ext cx="3401568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41414"/>
                </a:solidFill>
                <a:latin typeface="Malgun Gothic"/>
              </a:defRPr>
            </a:pPr>
            <a:r>
              <a:t>txt[6] = X, pat[0] = A</a:t>
            </a:r>
            <a:br/>
            <a:r>
              <a:t>불일치 + pp == 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675120" y="2331720"/>
            <a:ext cx="3474720" cy="777240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784848" y="2441448"/>
            <a:ext cx="3255263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  <a:latin typeface="Consolas"/>
              </a:defRPr>
            </a:pPr>
            <a:r>
              <a:t>elif pp == 0:</a:t>
            </a:r>
            <a:br/>
            <a:r>
              <a:t>    pt += 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675120" y="3429000"/>
            <a:ext cx="347472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711696" y="3474720"/>
            <a:ext cx="3401568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656A0"/>
                </a:solidFill>
                <a:latin typeface="Malgun Gothic"/>
              </a:defRPr>
            </a:pPr>
            <a:r>
              <a:t>결과: pt 6 → 7, pp 0 유지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두 번째 위치에서 완전히 일치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6424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7048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27048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7672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47672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7672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68296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68296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68296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88920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9544" y="132588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9544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9544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30168" y="132588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30168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0168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50791" y="132588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50791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50791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71416" y="132588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71416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1416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132588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92040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12664" y="132588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12664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12664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33288" y="132588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733288" y="137617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33288" y="167335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30168" y="233172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30168" y="23820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30168" y="2679191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50792" y="233172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50792" y="23820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50792" y="2679191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71416" y="233172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71416" y="23820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71416" y="2679191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92040" y="233172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92040" y="23820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92040" y="2679191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12664" y="233172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312664" y="23820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12664" y="2679191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33288" y="233172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733288" y="238201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33288" y="2679191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5800" y="3429000"/>
            <a:ext cx="4754880" cy="132588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0392" y="3566160"/>
            <a:ext cx="44256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Malgun Gothic"/>
              </a:defRPr>
            </a:pPr>
            <a:r>
              <a:t>txt[7] A = pat[0] A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Malgun Gothic"/>
              </a:defRPr>
            </a:pPr>
            <a:r>
              <a:t>txt[8] B = pat[1] B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Malgun Gothic"/>
              </a:defRPr>
            </a:pPr>
            <a:r>
              <a:t>txt[9] C = pat[2] C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623560" y="3429000"/>
            <a:ext cx="4754880" cy="132588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788152" y="3566160"/>
            <a:ext cx="44256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Malgun Gothic"/>
              </a:defRPr>
            </a:pPr>
            <a:r>
              <a:t>txt[10] A = pat[3] A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Malgun Gothic"/>
              </a:defRPr>
            </a:pPr>
            <a:r>
              <a:t>txt[11] B = pat[4] B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Malgun Gothic"/>
              </a:defRPr>
            </a:pPr>
            <a:r>
              <a:t>txt[12] D = pat[5] 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108960" y="5166360"/>
            <a:ext cx="521208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145536" y="5212080"/>
            <a:ext cx="513892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656A0"/>
                </a:solidFill>
                <a:latin typeface="Malgun Gothic"/>
              </a:defRPr>
            </a:pPr>
            <a:r>
              <a:t>최종 상태: pt = 13, pp = 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KMP 반환값 pt - pp의 의미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207007"/>
            <a:ext cx="416011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  <a:latin typeface="Consolas"/>
              </a:defRPr>
            </a:pPr>
            <a:r>
              <a:rPr dirty="0">
                <a:solidFill>
                  <a:srgbClr val="FF0000"/>
                </a:solidFill>
              </a:rPr>
              <a:t>return pt - pp if pp == </a:t>
            </a:r>
            <a:r>
              <a:rPr dirty="0" err="1">
                <a:solidFill>
                  <a:srgbClr val="FF0000"/>
                </a:solidFill>
              </a:rPr>
              <a:t>len</a:t>
            </a:r>
            <a:r>
              <a:rPr dirty="0">
                <a:solidFill>
                  <a:srgbClr val="FF0000"/>
                </a:solidFill>
              </a:rPr>
              <a:t>(pat) else -1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4884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1991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963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1106424" y="214884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" y="21991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24963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27048" y="214884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27048" y="21991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4963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47672" y="214884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47672" y="21991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47672" y="24963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68296" y="214884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68296" y="21991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8296" y="24963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14884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88920" y="21991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24963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9544" y="2148840"/>
            <a:ext cx="420624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9544" y="21991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9544" y="24963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0168" y="214884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30168" y="21991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24963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50791" y="214884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50791" y="21991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50791" y="24963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71416" y="214884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71416" y="21991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1416" y="24963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92040" y="214884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92040" y="21991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24963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12664" y="214884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12664" y="21991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12664" y="24963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33288" y="2148840"/>
            <a:ext cx="420624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33288" y="2199132"/>
            <a:ext cx="420624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33288" y="2496312"/>
            <a:ext cx="4206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21031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656A0"/>
                </a:solidFill>
                <a:latin typeface="Malgun Gothic"/>
              </a:defRPr>
            </a:pPr>
            <a:r>
              <a:t>검색 성공 조건: pp == len(pat)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2743200"/>
            <a:ext cx="3840480" cy="100584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45936" y="2788920"/>
            <a:ext cx="3767328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pt - pp = 13 - 6 = 7</a:t>
            </a:r>
            <a:br/>
            <a:r>
              <a:t>반환값 7 = Python index 기준 시작 위치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572000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Malgun Gothic"/>
              </a:defRPr>
            </a:pPr>
            <a:r>
              <a:t>출력에서 idx + 1을 하면 사람이 세는 기준인 8번째가 됨.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KMP 전체 흐름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1" y="1280160"/>
            <a:ext cx="8442441" cy="2033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350">
                <a:solidFill>
                  <a:srgbClr val="2D2D2D"/>
                </a:solidFill>
                <a:latin typeface="Malgun Gothic"/>
              </a:defRPr>
            </a:pPr>
            <a:r>
              <a:rPr sz="2000" dirty="0"/>
              <a:t>① skip </a:t>
            </a:r>
            <a:r>
              <a:rPr sz="2000" dirty="0" err="1"/>
              <a:t>만들기</a:t>
            </a:r>
            <a:endParaRPr sz="2000" dirty="0"/>
          </a:p>
          <a:p>
            <a:pPr>
              <a:lnSpc>
                <a:spcPct val="150000"/>
              </a:lnSpc>
              <a:spcAft>
                <a:spcPts val="400"/>
              </a:spcAft>
              <a:defRPr sz="1350">
                <a:solidFill>
                  <a:srgbClr val="2D2D2D"/>
                </a:solidFill>
                <a:latin typeface="Malgun Gothic"/>
              </a:defRPr>
            </a:pPr>
            <a:r>
              <a:rPr sz="2000" dirty="0" err="1"/>
              <a:t>패턴</a:t>
            </a:r>
            <a:r>
              <a:rPr sz="2000" dirty="0"/>
              <a:t> </a:t>
            </a:r>
            <a:r>
              <a:rPr sz="2000" dirty="0" err="1"/>
              <a:t>내부에서</a:t>
            </a:r>
            <a:r>
              <a:rPr sz="2000" dirty="0"/>
              <a:t> </a:t>
            </a:r>
            <a:r>
              <a:rPr sz="2000" dirty="0" err="1"/>
              <a:t>앞부분과</a:t>
            </a:r>
            <a:r>
              <a:rPr sz="2000" dirty="0"/>
              <a:t> </a:t>
            </a:r>
            <a:r>
              <a:rPr sz="2000" dirty="0" err="1"/>
              <a:t>뒷부분이</a:t>
            </a:r>
            <a:r>
              <a:rPr sz="2000" dirty="0"/>
              <a:t> </a:t>
            </a:r>
            <a:r>
              <a:rPr sz="2000" dirty="0" err="1"/>
              <a:t>같은</a:t>
            </a:r>
            <a:r>
              <a:rPr sz="2000" dirty="0"/>
              <a:t> </a:t>
            </a:r>
            <a:r>
              <a:rPr sz="2000" dirty="0" err="1"/>
              <a:t>길이를</a:t>
            </a:r>
            <a:r>
              <a:rPr sz="2000" dirty="0"/>
              <a:t> </a:t>
            </a:r>
            <a:r>
              <a:rPr sz="2000" dirty="0" err="1"/>
              <a:t>기록</a:t>
            </a:r>
            <a:endParaRPr sz="2000" dirty="0"/>
          </a:p>
          <a:p>
            <a:pPr>
              <a:lnSpc>
                <a:spcPct val="150000"/>
              </a:lnSpc>
              <a:spcAft>
                <a:spcPts val="400"/>
              </a:spcAft>
              <a:defRPr sz="1350">
                <a:solidFill>
                  <a:srgbClr val="2D2D2D"/>
                </a:solidFill>
                <a:latin typeface="Malgun Gothic"/>
              </a:defRPr>
            </a:pPr>
            <a:r>
              <a:rPr sz="2000" dirty="0"/>
              <a:t>② </a:t>
            </a:r>
            <a:r>
              <a:rPr sz="2000" dirty="0" err="1"/>
              <a:t>검색</a:t>
            </a:r>
            <a:r>
              <a:rPr sz="2000" dirty="0"/>
              <a:t> </a:t>
            </a:r>
            <a:r>
              <a:rPr sz="2000" dirty="0" err="1"/>
              <a:t>시작</a:t>
            </a:r>
            <a:r>
              <a:rPr lang="en-US" sz="2000" dirty="0"/>
              <a:t> : </a:t>
            </a:r>
            <a:r>
              <a:rPr sz="2000" dirty="0" err="1"/>
              <a:t>같으면</a:t>
            </a:r>
            <a:r>
              <a:rPr sz="2000" dirty="0"/>
              <a:t> pt, </a:t>
            </a:r>
            <a:r>
              <a:rPr sz="2000" dirty="0" err="1"/>
              <a:t>pp를</a:t>
            </a:r>
            <a:r>
              <a:rPr sz="2000" dirty="0"/>
              <a:t> </a:t>
            </a:r>
            <a:r>
              <a:rPr sz="2000" dirty="0" err="1"/>
              <a:t>함께</a:t>
            </a:r>
            <a:r>
              <a:rPr sz="2000" dirty="0"/>
              <a:t> </a:t>
            </a:r>
            <a:r>
              <a:rPr sz="2000" dirty="0" err="1"/>
              <a:t>증가</a:t>
            </a:r>
            <a:endParaRPr sz="2000" dirty="0"/>
          </a:p>
          <a:p>
            <a:pPr>
              <a:lnSpc>
                <a:spcPct val="150000"/>
              </a:lnSpc>
              <a:spcAft>
                <a:spcPts val="400"/>
              </a:spcAft>
              <a:defRPr sz="1350">
                <a:solidFill>
                  <a:srgbClr val="2D2D2D"/>
                </a:solidFill>
                <a:latin typeface="Malgun Gothic"/>
              </a:defRPr>
            </a:pPr>
            <a:r>
              <a:rPr sz="2000" dirty="0"/>
              <a:t>③ </a:t>
            </a:r>
            <a:r>
              <a:rPr sz="2000" dirty="0" err="1"/>
              <a:t>실패</a:t>
            </a:r>
            <a:r>
              <a:rPr sz="2000" dirty="0"/>
              <a:t> </a:t>
            </a:r>
            <a:r>
              <a:rPr sz="2000" dirty="0" err="1"/>
              <a:t>처리</a:t>
            </a:r>
            <a:r>
              <a:rPr lang="en-US" sz="2000" dirty="0"/>
              <a:t> : </a:t>
            </a:r>
            <a:r>
              <a:rPr sz="2000" dirty="0" err="1"/>
              <a:t>pp가</a:t>
            </a:r>
            <a:r>
              <a:rPr sz="2000" dirty="0"/>
              <a:t> 0이 </a:t>
            </a:r>
            <a:r>
              <a:rPr sz="2000" dirty="0" err="1"/>
              <a:t>아니면</a:t>
            </a:r>
            <a:r>
              <a:rPr sz="2000" dirty="0"/>
              <a:t> pp = skip[pp]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88937" y="1622198"/>
            <a:ext cx="249923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323"/>
                </a:solidFill>
                <a:latin typeface="Consolas"/>
              </a:defRPr>
            </a:pPr>
            <a:r>
              <a:rPr dirty="0"/>
              <a:t>pt=6, pp=5: X != D</a:t>
            </a:r>
            <a:br>
              <a:rPr dirty="0"/>
            </a:br>
            <a:r>
              <a:rPr dirty="0"/>
              <a:t>pp = skip[5] = 2</a:t>
            </a:r>
            <a:br>
              <a:rPr dirty="0"/>
            </a:br>
            <a:br>
              <a:rPr dirty="0"/>
            </a:br>
            <a:r>
              <a:rPr dirty="0"/>
              <a:t>pt=6, pp=2: X != C</a:t>
            </a:r>
            <a:br>
              <a:rPr dirty="0"/>
            </a:br>
            <a:r>
              <a:rPr dirty="0"/>
              <a:t>pp = skip[2] = 0</a:t>
            </a:r>
            <a:br>
              <a:rPr dirty="0"/>
            </a:br>
            <a:br>
              <a:rPr dirty="0"/>
            </a:br>
            <a:r>
              <a:rPr dirty="0"/>
              <a:t>pt=6, pp=0: X != A</a:t>
            </a:r>
            <a:br>
              <a:rPr dirty="0"/>
            </a:br>
            <a:r>
              <a:rPr dirty="0"/>
              <a:t>pt += 1 → pt=7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8485" y="5328273"/>
            <a:ext cx="8743099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656A0"/>
                </a:solidFill>
                <a:latin typeface="Malgun Gothic"/>
              </a:defRPr>
            </a:pPr>
            <a:br>
              <a:rPr dirty="0">
                <a:solidFill>
                  <a:srgbClr val="FF0000"/>
                </a:solidFill>
              </a:rPr>
            </a:br>
            <a:r>
              <a:rPr dirty="0" err="1">
                <a:solidFill>
                  <a:srgbClr val="FF0000"/>
                </a:solidFill>
              </a:rPr>
              <a:t>KMP는</a:t>
            </a:r>
            <a:r>
              <a:rPr dirty="0">
                <a:solidFill>
                  <a:srgbClr val="FF0000"/>
                </a:solidFill>
              </a:rPr>
              <a:t> “</a:t>
            </a:r>
            <a:r>
              <a:rPr dirty="0" err="1">
                <a:solidFill>
                  <a:srgbClr val="FF0000"/>
                </a:solidFill>
              </a:rPr>
              <a:t>이미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맞은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부분을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버리지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않고</a:t>
            </a:r>
            <a:r>
              <a:rPr dirty="0">
                <a:solidFill>
                  <a:srgbClr val="FF0000"/>
                </a:solidFill>
              </a:rPr>
              <a:t>, </a:t>
            </a:r>
            <a:r>
              <a:rPr dirty="0" err="1">
                <a:solidFill>
                  <a:srgbClr val="FF0000"/>
                </a:solidFill>
              </a:rPr>
              <a:t>패턴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안의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반복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구조를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이용해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pp를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되돌리는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알고리즘”임</a:t>
            </a:r>
            <a:r>
              <a:rPr dirty="0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235833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rPr dirty="0"/>
              <a:t>2. </a:t>
            </a:r>
            <a:r>
              <a:rPr dirty="0" err="1"/>
              <a:t>보이어</a:t>
            </a:r>
            <a:r>
              <a:rPr dirty="0"/>
              <a:t>–</a:t>
            </a:r>
            <a:r>
              <a:rPr dirty="0" err="1"/>
              <a:t>무어법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450080" y="2057400"/>
            <a:ext cx="3291840" cy="73152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486656" y="2103120"/>
            <a:ext cx="321868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txt = "ABABCDEFGHA"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50080" y="3017520"/>
            <a:ext cx="3291840" cy="73152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86656" y="3063239"/>
            <a:ext cx="321868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pat = "ABC"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95473" y="3954781"/>
            <a:ext cx="5047488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2656A0"/>
                </a:solidFill>
                <a:latin typeface="Malgun Gothic"/>
              </a:defRPr>
            </a:pPr>
            <a:r>
              <a:rPr dirty="0" err="1"/>
              <a:t>핵심</a:t>
            </a:r>
            <a:r>
              <a:rPr dirty="0"/>
              <a:t>: </a:t>
            </a:r>
            <a:r>
              <a:rPr dirty="0" err="1"/>
              <a:t>패턴의</a:t>
            </a:r>
            <a:r>
              <a:rPr dirty="0"/>
              <a:t> </a:t>
            </a:r>
            <a:r>
              <a:rPr dirty="0" err="1"/>
              <a:t>오른쪽</a:t>
            </a:r>
            <a:r>
              <a:rPr dirty="0"/>
              <a:t> </a:t>
            </a:r>
            <a:r>
              <a:rPr dirty="0" err="1"/>
              <a:t>끝부터</a:t>
            </a:r>
            <a:r>
              <a:rPr dirty="0"/>
              <a:t> </a:t>
            </a:r>
            <a:r>
              <a:rPr dirty="0" err="1"/>
              <a:t>비교하고</a:t>
            </a:r>
            <a:r>
              <a:rPr dirty="0"/>
              <a:t>,</a:t>
            </a:r>
            <a:br>
              <a:rPr dirty="0"/>
            </a:br>
            <a:r>
              <a:rPr dirty="0" err="1"/>
              <a:t>실패한</a:t>
            </a:r>
            <a:r>
              <a:rPr dirty="0"/>
              <a:t> </a:t>
            </a:r>
            <a:r>
              <a:rPr dirty="0" err="1"/>
              <a:t>문자를</a:t>
            </a:r>
            <a:r>
              <a:rPr dirty="0"/>
              <a:t> </a:t>
            </a:r>
            <a:r>
              <a:rPr dirty="0" err="1"/>
              <a:t>기준으로</a:t>
            </a:r>
            <a:r>
              <a:rPr dirty="0"/>
              <a:t> </a:t>
            </a:r>
            <a:r>
              <a:rPr dirty="0" err="1"/>
              <a:t>pt를</a:t>
            </a:r>
            <a:r>
              <a:rPr dirty="0"/>
              <a:t> </a:t>
            </a:r>
            <a:r>
              <a:rPr dirty="0" err="1"/>
              <a:t>크게</a:t>
            </a:r>
            <a:r>
              <a:rPr dirty="0"/>
              <a:t> </a:t>
            </a:r>
            <a:r>
              <a:rPr dirty="0" err="1"/>
              <a:t>이동함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202170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rPr dirty="0" err="1"/>
              <a:t>보이어</a:t>
            </a:r>
            <a:r>
              <a:rPr dirty="0"/>
              <a:t>–</a:t>
            </a:r>
            <a:r>
              <a:rPr dirty="0" err="1"/>
              <a:t>무어법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4206240" cy="50292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" y="1325880"/>
            <a:ext cx="4133087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41414"/>
                </a:solidFill>
                <a:latin typeface="Malgun Gothic"/>
              </a:defRPr>
            </a:pPr>
            <a:r>
              <a:t>일반적인 왼쪽 → 오른쪽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2011680"/>
            <a:ext cx="7315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061972"/>
            <a:ext cx="7315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359152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2011680"/>
            <a:ext cx="7315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2061972"/>
            <a:ext cx="7315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359152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011680"/>
            <a:ext cx="7315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0" y="2061972"/>
            <a:ext cx="7315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59152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Malgun Gothic"/>
              </a:defRPr>
            </a:pPr>
            <a:r>
              <a:t>A → B → C 순서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280160"/>
            <a:ext cx="4206240" cy="50292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63056" y="1325880"/>
            <a:ext cx="4133087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41414"/>
                </a:solidFill>
                <a:latin typeface="Malgun Gothic"/>
              </a:defRPr>
            </a:pPr>
            <a:r>
              <a:t>보이어–무어: 오른쪽 → 왼쪽 비교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011680"/>
            <a:ext cx="7315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061972"/>
            <a:ext cx="7315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59152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011680"/>
            <a:ext cx="7315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59" y="2061972"/>
            <a:ext cx="7315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59" y="2359152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2011680"/>
            <a:ext cx="7315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79" y="2061972"/>
            <a:ext cx="7315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359152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Malgun Gothic"/>
              </a:defRPr>
            </a:pPr>
            <a:r>
              <a:t>C → B → A 순서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206240"/>
            <a:ext cx="95097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656A0"/>
                </a:solidFill>
                <a:latin typeface="Malgun Gothic"/>
              </a:defRPr>
            </a:pPr>
            <a:r>
              <a:rPr dirty="0" err="1"/>
              <a:t>오른쪽</a:t>
            </a:r>
            <a:r>
              <a:rPr dirty="0"/>
              <a:t> 끝 </a:t>
            </a:r>
            <a:r>
              <a:rPr dirty="0" err="1"/>
              <a:t>문자가</a:t>
            </a:r>
            <a:r>
              <a:rPr dirty="0"/>
              <a:t> </a:t>
            </a:r>
            <a:r>
              <a:rPr dirty="0" err="1"/>
              <a:t>틀리면</a:t>
            </a:r>
            <a:r>
              <a:rPr dirty="0"/>
              <a:t>, 그 </a:t>
            </a:r>
            <a:r>
              <a:rPr dirty="0" err="1"/>
              <a:t>문자가</a:t>
            </a:r>
            <a:r>
              <a:rPr dirty="0"/>
              <a:t> </a:t>
            </a:r>
            <a:r>
              <a:rPr dirty="0" err="1"/>
              <a:t>패턴</a:t>
            </a:r>
            <a:r>
              <a:rPr dirty="0"/>
              <a:t>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있는지</a:t>
            </a:r>
            <a:r>
              <a:rPr dirty="0"/>
              <a:t> </a:t>
            </a:r>
            <a:r>
              <a:rPr dirty="0" err="1"/>
              <a:t>보고</a:t>
            </a:r>
            <a:r>
              <a:rPr dirty="0"/>
              <a:t> </a:t>
            </a:r>
            <a:r>
              <a:rPr dirty="0" err="1"/>
              <a:t>패턴을</a:t>
            </a:r>
            <a:r>
              <a:rPr dirty="0"/>
              <a:t> </a:t>
            </a:r>
            <a:r>
              <a:rPr dirty="0" err="1"/>
              <a:t>크게</a:t>
            </a:r>
            <a:r>
              <a:rPr dirty="0"/>
              <a:t> </a:t>
            </a:r>
            <a:r>
              <a:rPr dirty="0" err="1"/>
              <a:t>이동할</a:t>
            </a:r>
            <a:r>
              <a:rPr dirty="0"/>
              <a:t> 수 </a:t>
            </a:r>
            <a:r>
              <a:rPr dirty="0" err="1"/>
              <a:t>있음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41007-DFFA-6270-4B0D-4AC0342F9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C7AE0C-A3C0-4F86-FCD5-834B633056DB}"/>
              </a:ext>
            </a:extLst>
          </p:cNvPr>
          <p:cNvSpPr txBox="1"/>
          <p:nvPr/>
        </p:nvSpPr>
        <p:spPr>
          <a:xfrm>
            <a:off x="411480" y="201168"/>
            <a:ext cx="130035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rPr dirty="0"/>
              <a:t>BM </a:t>
            </a:r>
            <a:r>
              <a:rPr dirty="0" err="1"/>
              <a:t>예제</a:t>
            </a:r>
            <a:endParaRPr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A4F594-EC82-CD3A-8650-392D2CE066A4}"/>
              </a:ext>
            </a:extLst>
          </p:cNvPr>
          <p:cNvSpPr txBox="1"/>
          <p:nvPr/>
        </p:nvSpPr>
        <p:spPr>
          <a:xfrm>
            <a:off x="1595336" y="663674"/>
            <a:ext cx="9669294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보이어 </a:t>
            </a:r>
            <a:r>
              <a:rPr lang="ko-KR" alt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무어법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bm_match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skip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건너뛰기 표 생성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알파벳 포함 아스키 문자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개 담을 수 있는 크기 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pt </a:t>
            </a:r>
            <a:r>
              <a:rPr lang="en-US" altLang="ko-KR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skip[pt]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(pat)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skip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배열에 패턴의 길이만큼 건너뛰기 값 설정 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패턴 안에 없는 문자를 만나면 패턴 길이만큼 통째로 건너뛴다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  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pt </a:t>
            </a:r>
            <a:r>
              <a:rPr lang="en-US" altLang="ko-KR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(pat)):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skip[</a:t>
            </a:r>
            <a:r>
              <a:rPr lang="en-US" altLang="ko-KR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ord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(pat[pt])]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(pat)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pt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ord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는 문자를 숫자로 바꿔서 리스트 인덱스로 사용하게 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검색하기 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pt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(txt):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본문 끝까지 비교 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pp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(pat)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뒤에서부터 거꾸로 비교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패턴의 커서를 맨 뒤로 </a:t>
            </a:r>
            <a:r>
              <a:rPr lang="ko-KR" alt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보내버림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txt[pt]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pat[pp]: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본문과 패턴의 문자가 같다면 실행  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pp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 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pp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까지 온건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뒤에서부터 시작해 패턴의 첫 글자까지 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완벽하게 똑같다는 뜻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문자열 찾기에 성공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 pt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 반환하고 종료 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pt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pt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본문과 패턴이 같으면 계속 감소 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pp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본문과 패턴이 같으면 계속 감소 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pt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skip[</a:t>
            </a:r>
            <a:r>
              <a:rPr lang="en-US" altLang="ko-KR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ord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(txt[pt])] </a:t>
            </a:r>
            <a:r>
              <a:rPr lang="en-US" altLang="ko-KR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skip[</a:t>
            </a:r>
            <a:r>
              <a:rPr lang="en-US" altLang="ko-KR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ord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(txt[pt])]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(pat)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pp </a:t>
            </a:r>
            <a:r>
              <a:rPr lang="en-US" altLang="ko-KR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(pat)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pp 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불일치가 났을 때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pt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 몇 칸 오른쪽으로 이동할 것인가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 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move1 = skip[</a:t>
            </a:r>
            <a:r>
              <a:rPr lang="en-US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ord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(txt[pt])] : txt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에서 불일치가 난 문자 찾아서 그것에 해당하는 길이만큼 이동하라 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move2 = </a:t>
            </a:r>
            <a:r>
              <a:rPr lang="en-US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(pat) - pp #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최소 </a:t>
            </a:r>
            <a:r>
              <a:rPr lang="ko-KR" alt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이동량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보정값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최소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칸은 이동해라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왜냐하면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skip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 나오는 경우가 있어서 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if move1 &gt; move2: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   pt += move1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else: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   pt += move2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ko-KR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810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BM 예제 문자열과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1333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1051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46304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151333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1051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46304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37360" y="151333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1051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146304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40280" y="151333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181051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46304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0" y="151333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81051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6304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46120" y="151333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181051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40" y="146304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0" y="151333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181051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146304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51960" y="151333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81051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146304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4880" y="151333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181051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57800" y="146304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57800" y="151333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181051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146304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60720" y="151333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181051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5F5F"/>
                </a:solidFill>
                <a:latin typeface="Malgun Gothic"/>
              </a:defRPr>
            </a:pPr>
            <a:r>
              <a:rPr dirty="0"/>
              <a:t>txt = "ABABCDEFGHA"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37360" y="278892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737360" y="28392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3136391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40280" y="278892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240280" y="28392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3136391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0" y="278892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43200" y="28392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3136391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0" y="1463040"/>
            <a:ext cx="3566160" cy="109728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26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20256" y="1508760"/>
            <a:ext cx="3493008" cy="1005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656A0"/>
                </a:solidFill>
                <a:latin typeface="Malgun Gothic"/>
              </a:defRPr>
            </a:pPr>
            <a:r>
              <a:t>정답 시작 위치</a:t>
            </a:r>
            <a:br/>
            <a:r>
              <a:t>Python index = 2</a:t>
            </a:r>
            <a:br/>
            <a:r>
              <a:t>출력: idx + 1 → 3번째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1" y="4206240"/>
            <a:ext cx="1001183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Malgun Gothic"/>
              </a:defRPr>
            </a:pPr>
            <a:r>
              <a:rPr dirty="0"/>
              <a:t>① skip 표 </a:t>
            </a:r>
            <a:r>
              <a:rPr dirty="0" err="1"/>
              <a:t>만들기</a:t>
            </a:r>
            <a:r>
              <a:rPr dirty="0"/>
              <a:t> → ② </a:t>
            </a:r>
            <a:r>
              <a:rPr dirty="0" err="1"/>
              <a:t>패턴</a:t>
            </a:r>
            <a:r>
              <a:rPr dirty="0"/>
              <a:t> 끝 </a:t>
            </a:r>
            <a:r>
              <a:rPr dirty="0" err="1"/>
              <a:t>문자부터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 → ③ </a:t>
            </a:r>
            <a:r>
              <a:rPr dirty="0" err="1"/>
              <a:t>불일치</a:t>
            </a:r>
            <a:r>
              <a:rPr dirty="0"/>
              <a:t> 시 </a:t>
            </a:r>
            <a:r>
              <a:rPr dirty="0" err="1"/>
              <a:t>이동량</a:t>
            </a:r>
            <a:r>
              <a:rPr dirty="0"/>
              <a:t> </a:t>
            </a:r>
            <a:r>
              <a:rPr dirty="0" err="1"/>
              <a:t>계산</a:t>
            </a:r>
            <a:r>
              <a:rPr dirty="0"/>
              <a:t> → ④ </a:t>
            </a:r>
            <a:r>
              <a:rPr dirty="0" err="1"/>
              <a:t>일치하면</a:t>
            </a:r>
            <a:r>
              <a:rPr dirty="0"/>
              <a:t> </a:t>
            </a:r>
            <a:r>
              <a:rPr dirty="0" err="1"/>
              <a:t>왼쪽으로</a:t>
            </a:r>
            <a:r>
              <a:rPr dirty="0"/>
              <a:t> </a:t>
            </a:r>
            <a:r>
              <a:rPr dirty="0" err="1"/>
              <a:t>계속</a:t>
            </a:r>
            <a:r>
              <a:rPr dirty="0"/>
              <a:t> </a:t>
            </a:r>
            <a:r>
              <a:rPr dirty="0" err="1"/>
              <a:t>비교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BM의 skip 표: 문자별 이동 거리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51560"/>
            <a:ext cx="4937760" cy="2011680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161288"/>
            <a:ext cx="4718304" cy="1810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323"/>
                </a:solidFill>
                <a:latin typeface="Consolas"/>
              </a:defRPr>
            </a:pPr>
            <a:r>
              <a:t>skip = [None] * 256</a:t>
            </a:r>
            <a:br/>
            <a:br/>
            <a:r>
              <a:t>for pt in range(256):</a:t>
            </a:r>
            <a:br/>
            <a:r>
              <a:t>    skip[pt] = len(pat)</a:t>
            </a:r>
            <a:br/>
            <a:br/>
            <a:r>
              <a:t>for pt in range(len(pat)):</a:t>
            </a:r>
            <a:br/>
            <a:r>
              <a:t>    skip[ord(pat[pt])] = len(pat) - pt - 1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89320" y="1097280"/>
          <a:ext cx="4114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rPr dirty="0" err="1"/>
                        <a:t>문자</a:t>
                      </a:r>
                      <a:endParaRPr dirty="0"/>
                    </a:p>
                  </a:txBody>
                  <a:tcPr marL="45720" marR="45720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rPr dirty="0"/>
                        <a:t>A</a:t>
                      </a:r>
                    </a:p>
                  </a:txBody>
                  <a:tcPr marL="45720" marR="45720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B</a:t>
                      </a:r>
                    </a:p>
                  </a:txBody>
                  <a:tcPr marL="45720" marR="45720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rPr dirty="0"/>
                        <a:t>C</a:t>
                      </a:r>
                    </a:p>
                  </a:txBody>
                  <a:tcPr marL="45720" marR="45720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rPr dirty="0"/>
                        <a:t>그 외</a:t>
                      </a:r>
                    </a:p>
                  </a:txBody>
                  <a:tcPr marL="45720" marR="45720"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끝에서 거리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35040" y="32461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2D2D"/>
                </a:solidFill>
                <a:latin typeface="Malgun Gothic"/>
              </a:defRPr>
            </a:pPr>
            <a:r>
              <a:t>그 외 문자 = 패턴에 없는 문자이므로</a:t>
            </a:r>
            <a:br/>
            <a:r>
              <a:t>패턴 길이만큼 이동함.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skip 표 계산을 직접 해보기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7315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6172"/>
            <a:ext cx="7315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73352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1325880"/>
            <a:ext cx="7315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1376172"/>
            <a:ext cx="7315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73352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325880"/>
            <a:ext cx="7315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0" y="1376172"/>
            <a:ext cx="7315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673352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143000"/>
            <a:ext cx="5303520" cy="685800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73168" y="1252728"/>
            <a:ext cx="5084064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Consolas"/>
              </a:defRPr>
            </a:pPr>
            <a:r>
              <a:t>skip[ord(pat[pt])] = len(pat) - pt - 1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88920"/>
            <a:ext cx="9235440" cy="155448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2926079"/>
            <a:ext cx="890625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Malgun Gothic"/>
              </a:defRPr>
            </a:pPr>
            <a:r>
              <a:t>pt = 0 → pat[0] = A → 3 - 0 - 1 = 2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Malgun Gothic"/>
              </a:defRPr>
            </a:pPr>
            <a:r>
              <a:t>pt = 1 → pat[1] = B → 3 - 1 - 1 = 1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Malgun Gothic"/>
              </a:defRPr>
            </a:pPr>
            <a:r>
              <a:t>pt = 2 → pat[2] = C → 3 - 2 - 1 =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92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656A0"/>
                </a:solidFill>
                <a:latin typeface="Malgun Gothic"/>
              </a:defRPr>
            </a:pPr>
            <a:r>
              <a:t>결과: A는 2칸, B는 1칸, C는 0칸, 그 외는 3칸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ord()는 왜 쓰는가?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097280"/>
            <a:ext cx="4389120" cy="1234440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6968" y="1207007"/>
            <a:ext cx="4169663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323"/>
                </a:solidFill>
                <a:latin typeface="Consolas"/>
              </a:defRPr>
            </a:pPr>
            <a:r>
              <a:t>ord('A')  # 65</a:t>
            </a:r>
            <a:br/>
            <a:r>
              <a:t>ord('B')  # 66</a:t>
            </a:r>
            <a:br/>
            <a:r>
              <a:t>ord('C')  # 67</a:t>
            </a:r>
            <a:br/>
            <a:r>
              <a:t>chr(65)   # 'A'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1097280"/>
            <a:ext cx="4389120" cy="1234440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61888" y="1207007"/>
            <a:ext cx="4169663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323"/>
                </a:solidFill>
                <a:latin typeface="Consolas"/>
              </a:defRPr>
            </a:pPr>
            <a:r>
              <a:t>skip[ord('A')] = 2</a:t>
            </a:r>
            <a:br/>
            <a:r>
              <a:t># 실제 의미: skip[65] = 2</a:t>
            </a:r>
            <a:br/>
            <a:br/>
            <a:r>
              <a:t>skip[ord('B')] = 1</a:t>
            </a:r>
            <a:br/>
            <a:r>
              <a:t># 실제 의미: skip[66] =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54680"/>
            <a:ext cx="9464040" cy="155448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3291840"/>
            <a:ext cx="913485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  <a:latin typeface="Malgun Gothic"/>
              </a:defRPr>
            </a:pPr>
            <a:r>
              <a:t>리스트는 skip[65]처럼 숫자 인덱스로 접근함.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  <a:latin typeface="Malgun Gothic"/>
              </a:defRPr>
            </a:pPr>
            <a:r>
              <a:t>skip["A"]처럼 문자 인덱스를 직접 사용할 수 없으므로 ord()로 문자를 숫자 코드로 바꿈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패턴에 같은 문자가 두 번 나오면?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685800" cy="329184"/>
          </a:xfrm>
          <a:prstGeom prst="rect">
            <a:avLst/>
          </a:prstGeom>
          <a:solidFill>
            <a:srgbClr val="EEF0F2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84732"/>
            <a:ext cx="68580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81912"/>
            <a:ext cx="68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8760" y="1234440"/>
            <a:ext cx="68580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8760" y="1284732"/>
            <a:ext cx="68580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81912"/>
            <a:ext cx="68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234440"/>
            <a:ext cx="68580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0" y="1284732"/>
            <a:ext cx="68580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581912"/>
            <a:ext cx="68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234440"/>
            <a:ext cx="68580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0360" y="1284732"/>
            <a:ext cx="68580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581912"/>
            <a:ext cx="68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143000"/>
            <a:ext cx="4754880" cy="1463040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56048" y="1252728"/>
            <a:ext cx="4535424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323"/>
                </a:solidFill>
                <a:latin typeface="Consolas"/>
              </a:defRPr>
            </a:pPr>
            <a:r>
              <a:t>pat = 'ABCA'</a:t>
            </a:r>
            <a:br/>
            <a:r>
              <a:t>A = 4 - 0 - 1 = 3</a:t>
            </a:r>
            <a:br/>
            <a:r>
              <a:t>B = 4 - 1 - 1 = 2</a:t>
            </a:r>
            <a:br/>
            <a:r>
              <a:t>C = 4 - 2 - 1 = 1</a:t>
            </a:r>
            <a:br/>
            <a:r>
              <a:t>A = 4 - 3 - 1 =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488" y="3528717"/>
            <a:ext cx="638134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41414"/>
                </a:solidFill>
                <a:latin typeface="Malgun Gothic"/>
              </a:defRPr>
            </a:pPr>
            <a:r>
              <a:rPr dirty="0" err="1"/>
              <a:t>계산</a:t>
            </a:r>
            <a:r>
              <a:rPr dirty="0"/>
              <a:t> </a:t>
            </a:r>
            <a:r>
              <a:rPr dirty="0" err="1"/>
              <a:t>과정에서는</a:t>
            </a:r>
            <a:r>
              <a:rPr dirty="0"/>
              <a:t> A=3이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나오지만</a:t>
            </a:r>
            <a:r>
              <a:rPr dirty="0"/>
              <a:t>, </a:t>
            </a:r>
            <a:r>
              <a:rPr dirty="0" err="1"/>
              <a:t>마지막</a:t>
            </a:r>
            <a:r>
              <a:rPr dirty="0"/>
              <a:t> A=0이 </a:t>
            </a:r>
            <a:r>
              <a:rPr dirty="0" err="1"/>
              <a:t>앞의</a:t>
            </a:r>
            <a:r>
              <a:rPr dirty="0"/>
              <a:t> A </a:t>
            </a:r>
            <a:r>
              <a:rPr dirty="0" err="1"/>
              <a:t>값을</a:t>
            </a:r>
            <a:r>
              <a:rPr dirty="0"/>
              <a:t> </a:t>
            </a:r>
            <a:r>
              <a:rPr dirty="0" err="1"/>
              <a:t>덮어씀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854109" y="3263304"/>
            <a:ext cx="4681728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656A0"/>
                </a:solidFill>
                <a:latin typeface="Malgun Gothic"/>
              </a:defRPr>
            </a:pPr>
            <a:r>
              <a:rPr dirty="0" err="1"/>
              <a:t>최종</a:t>
            </a:r>
            <a:r>
              <a:rPr dirty="0"/>
              <a:t> skip: A=0, B=2, C=1, 그 외=4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00600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Malgun Gothic"/>
              </a:defRPr>
            </a:pPr>
            <a:r>
              <a:t>단, 실제 이동은 max(skip값, len(pat)-pp)를 사용하므로 0칸 이동으로 멈추지 않음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BM 검색 단계의 변수 pt와 pp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141732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9164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9456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9748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0332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0624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6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6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1500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260604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265633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295351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8720" y="260604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88720" y="265633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295351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91640" y="260604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691640" y="265633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91640" y="295351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02552" y="1266444"/>
            <a:ext cx="4498848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41414"/>
                </a:solidFill>
                <a:latin typeface="Malgun Gothic"/>
              </a:defRPr>
            </a:pPr>
            <a:r>
              <a:rPr dirty="0"/>
              <a:t>pt = 2</a:t>
            </a:r>
            <a:br>
              <a:rPr dirty="0"/>
            </a:br>
            <a:r>
              <a:rPr dirty="0" err="1"/>
              <a:t>텍스트에서</a:t>
            </a:r>
            <a:r>
              <a:rPr dirty="0"/>
              <a:t>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 </a:t>
            </a:r>
            <a:r>
              <a:rPr dirty="0" err="1"/>
              <a:t>위치</a:t>
            </a:r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6748402" y="2133015"/>
            <a:ext cx="4498848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41414"/>
                </a:solidFill>
                <a:latin typeface="Malgun Gothic"/>
              </a:defRPr>
            </a:pPr>
            <a:r>
              <a:rPr dirty="0"/>
              <a:t>pp = 2</a:t>
            </a:r>
            <a:br>
              <a:rPr dirty="0"/>
            </a:br>
            <a:r>
              <a:rPr dirty="0" err="1"/>
              <a:t>패턴에서</a:t>
            </a:r>
            <a:r>
              <a:rPr dirty="0"/>
              <a:t>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 </a:t>
            </a:r>
            <a:r>
              <a:rPr dirty="0" err="1"/>
              <a:t>위치</a:t>
            </a:r>
            <a:endParaRPr dirty="0"/>
          </a:p>
        </p:txBody>
      </p:sp>
      <p:sp>
        <p:nvSpPr>
          <p:cNvPr id="50" name="TextBox 49"/>
          <p:cNvSpPr txBox="1"/>
          <p:nvPr/>
        </p:nvSpPr>
        <p:spPr>
          <a:xfrm>
            <a:off x="7976162" y="3118104"/>
            <a:ext cx="218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323"/>
                </a:solidFill>
                <a:latin typeface="Consolas"/>
              </a:defRPr>
            </a:pPr>
            <a:r>
              <a:rPr dirty="0"/>
              <a:t>pt = </a:t>
            </a:r>
            <a:r>
              <a:rPr dirty="0" err="1"/>
              <a:t>len</a:t>
            </a:r>
            <a:r>
              <a:rPr dirty="0"/>
              <a:t>(pat) - 1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BM 검색 부분 코드: 큰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93738" y="1280160"/>
            <a:ext cx="3511296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2D2D2D"/>
                </a:solidFill>
                <a:latin typeface="Malgun Gothic"/>
              </a:defRPr>
            </a:pPr>
            <a:r>
              <a:rPr dirty="0"/>
              <a:t>① </a:t>
            </a:r>
            <a:r>
              <a:rPr dirty="0" err="1"/>
              <a:t>pt가</a:t>
            </a:r>
            <a:r>
              <a:rPr dirty="0"/>
              <a:t> </a:t>
            </a:r>
            <a:r>
              <a:rPr dirty="0" err="1"/>
              <a:t>텍스트</a:t>
            </a:r>
            <a:r>
              <a:rPr dirty="0"/>
              <a:t> </a:t>
            </a:r>
            <a:r>
              <a:rPr dirty="0" err="1"/>
              <a:t>끝을</a:t>
            </a:r>
            <a:r>
              <a:rPr dirty="0"/>
              <a:t> </a:t>
            </a:r>
            <a:r>
              <a:rPr dirty="0" err="1"/>
              <a:t>넘기</a:t>
            </a:r>
            <a:r>
              <a:rPr dirty="0"/>
              <a:t> </a:t>
            </a:r>
            <a:r>
              <a:rPr dirty="0" err="1"/>
              <a:t>전까지</a:t>
            </a:r>
            <a:r>
              <a:rPr dirty="0"/>
              <a:t> </a:t>
            </a:r>
            <a:r>
              <a:rPr dirty="0" err="1"/>
              <a:t>반복</a:t>
            </a:r>
            <a:endParaRPr dirty="0"/>
          </a:p>
          <a:p>
            <a:pPr>
              <a:spcAft>
                <a:spcPts val="400"/>
              </a:spcAft>
              <a:defRPr sz="1350">
                <a:solidFill>
                  <a:srgbClr val="2D2D2D"/>
                </a:solidFill>
                <a:latin typeface="Malgun Gothic"/>
              </a:defRPr>
            </a:pPr>
            <a:r>
              <a:rPr dirty="0"/>
              <a:t>② </a:t>
            </a:r>
            <a:r>
              <a:rPr dirty="0" err="1"/>
              <a:t>pp는</a:t>
            </a:r>
            <a:r>
              <a:rPr dirty="0"/>
              <a:t> </a:t>
            </a:r>
            <a:r>
              <a:rPr dirty="0" err="1"/>
              <a:t>매번</a:t>
            </a:r>
            <a:r>
              <a:rPr dirty="0"/>
              <a:t> </a:t>
            </a:r>
            <a:r>
              <a:rPr dirty="0" err="1"/>
              <a:t>패턴의</a:t>
            </a:r>
            <a:r>
              <a:rPr dirty="0"/>
              <a:t> </a:t>
            </a:r>
            <a:r>
              <a:rPr dirty="0" err="1"/>
              <a:t>마지막</a:t>
            </a:r>
            <a:r>
              <a:rPr dirty="0"/>
              <a:t> </a:t>
            </a:r>
            <a:r>
              <a:rPr dirty="0" err="1"/>
              <a:t>위치에서</a:t>
            </a:r>
            <a:r>
              <a:rPr dirty="0"/>
              <a:t> </a:t>
            </a:r>
            <a:r>
              <a:rPr dirty="0" err="1"/>
              <a:t>시작</a:t>
            </a:r>
            <a:endParaRPr dirty="0"/>
          </a:p>
          <a:p>
            <a:pPr>
              <a:spcAft>
                <a:spcPts val="400"/>
              </a:spcAft>
              <a:defRPr sz="1350">
                <a:solidFill>
                  <a:srgbClr val="2D2D2D"/>
                </a:solidFill>
                <a:latin typeface="Malgun Gothic"/>
              </a:defRPr>
            </a:pPr>
            <a:r>
              <a:rPr dirty="0"/>
              <a:t>③ </a:t>
            </a:r>
            <a:r>
              <a:rPr dirty="0" err="1"/>
              <a:t>문자가</a:t>
            </a:r>
            <a:r>
              <a:rPr dirty="0"/>
              <a:t> </a:t>
            </a:r>
            <a:r>
              <a:rPr dirty="0" err="1"/>
              <a:t>같으면</a:t>
            </a:r>
            <a:r>
              <a:rPr dirty="0"/>
              <a:t> </a:t>
            </a:r>
            <a:r>
              <a:rPr dirty="0" err="1"/>
              <a:t>pt와</a:t>
            </a:r>
            <a:r>
              <a:rPr dirty="0"/>
              <a:t> </a:t>
            </a:r>
            <a:r>
              <a:rPr dirty="0" err="1"/>
              <a:t>pp를</a:t>
            </a:r>
            <a:r>
              <a:rPr dirty="0"/>
              <a:t> </a:t>
            </a:r>
            <a:r>
              <a:rPr dirty="0" err="1"/>
              <a:t>왼쪽으로</a:t>
            </a:r>
            <a:r>
              <a:rPr dirty="0"/>
              <a:t> </a:t>
            </a:r>
            <a:r>
              <a:rPr dirty="0" err="1"/>
              <a:t>이동</a:t>
            </a:r>
            <a:endParaRPr dirty="0"/>
          </a:p>
          <a:p>
            <a:pPr>
              <a:spcAft>
                <a:spcPts val="400"/>
              </a:spcAft>
              <a:defRPr sz="1350">
                <a:solidFill>
                  <a:srgbClr val="2D2D2D"/>
                </a:solidFill>
                <a:latin typeface="Malgun Gothic"/>
              </a:defRPr>
            </a:pPr>
            <a:r>
              <a:rPr dirty="0"/>
              <a:t>④ </a:t>
            </a:r>
            <a:r>
              <a:rPr dirty="0" err="1"/>
              <a:t>pp가</a:t>
            </a:r>
            <a:r>
              <a:rPr dirty="0"/>
              <a:t> 0이면 </a:t>
            </a:r>
            <a:r>
              <a:rPr dirty="0" err="1"/>
              <a:t>패턴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일치</a:t>
            </a:r>
            <a:endParaRPr dirty="0"/>
          </a:p>
          <a:p>
            <a:pPr>
              <a:spcAft>
                <a:spcPts val="400"/>
              </a:spcAft>
              <a:defRPr sz="1350">
                <a:solidFill>
                  <a:srgbClr val="2D2D2D"/>
                </a:solidFill>
                <a:latin typeface="Malgun Gothic"/>
              </a:defRPr>
            </a:pPr>
            <a:r>
              <a:rPr dirty="0"/>
              <a:t>⑤ </a:t>
            </a:r>
            <a:r>
              <a:rPr dirty="0" err="1"/>
              <a:t>다르면</a:t>
            </a:r>
            <a:r>
              <a:rPr dirty="0"/>
              <a:t> </a:t>
            </a:r>
            <a:r>
              <a:rPr dirty="0" err="1"/>
              <a:t>이동량을</a:t>
            </a:r>
            <a:r>
              <a:rPr dirty="0"/>
              <a:t> </a:t>
            </a:r>
            <a:r>
              <a:rPr dirty="0" err="1"/>
              <a:t>계산해</a:t>
            </a:r>
            <a:r>
              <a:rPr dirty="0"/>
              <a:t> </a:t>
            </a:r>
            <a:r>
              <a:rPr dirty="0" err="1"/>
              <a:t>pt를</a:t>
            </a:r>
            <a:r>
              <a:rPr dirty="0"/>
              <a:t> </a:t>
            </a:r>
            <a:r>
              <a:rPr dirty="0" err="1"/>
              <a:t>오른쪽으로</a:t>
            </a:r>
            <a:r>
              <a:rPr dirty="0"/>
              <a:t> </a:t>
            </a:r>
            <a:r>
              <a:rPr dirty="0" err="1"/>
              <a:t>이동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4A4CFB-1274-3D83-7480-74D07660EC64}"/>
              </a:ext>
            </a:extLst>
          </p:cNvPr>
          <p:cNvSpPr txBox="1"/>
          <p:nvPr/>
        </p:nvSpPr>
        <p:spPr>
          <a:xfrm>
            <a:off x="246434" y="1198430"/>
            <a:ext cx="782103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pt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(txt):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pp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(pat)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txt[pt]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pat[pp]: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pp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pt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pt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pp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pt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skip[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ord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(txt[pt])]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skip[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ord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(txt[pt])]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(pat)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pp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(pat)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pp </a:t>
            </a: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첫 번째 비교: A와 C가 다르다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141732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9164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9456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9748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0332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0624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6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6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1500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2560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2610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2907791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8720" y="2560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88720" y="2610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2907791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91640" y="256032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691640" y="2610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91640" y="2907791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53641" y="1298554"/>
            <a:ext cx="1316899" cy="92333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C84848"/>
                </a:solidFill>
                <a:latin typeface="Malgun Gothic"/>
              </a:defRPr>
            </a:pPr>
            <a:r>
              <a:rPr dirty="0">
                <a:solidFill>
                  <a:srgbClr val="FF0000"/>
                </a:solidFill>
              </a:rPr>
              <a:t>txt[2] = A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pat[2] = C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A ≠ 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6093" y="2560320"/>
            <a:ext cx="4315968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656A0"/>
                </a:solidFill>
                <a:latin typeface="Malgun Gothic"/>
              </a:defRPr>
            </a:pP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상태</a:t>
            </a:r>
            <a:br>
              <a:rPr dirty="0"/>
            </a:br>
            <a:r>
              <a:rPr dirty="0"/>
              <a:t>pt = 2, pp = 2, </a:t>
            </a:r>
            <a:r>
              <a:rPr dirty="0" err="1"/>
              <a:t>len</a:t>
            </a:r>
            <a:r>
              <a:rPr dirty="0"/>
              <a:t>(pat)=3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이동량 계산 한 줄 풀어쓰기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60120"/>
            <a:ext cx="10241280" cy="685800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069848"/>
            <a:ext cx="10021824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323"/>
                </a:solidFill>
                <a:latin typeface="Consolas"/>
              </a:defRPr>
            </a:pPr>
            <a:r>
              <a:t>pt += skip[ord(txt[pt])] if skip[ord(txt[pt])] &gt; len(pat) - pp else len(pat) - 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4892040" cy="2103120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075688"/>
            <a:ext cx="4672583" cy="19019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Consolas"/>
              </a:defRPr>
            </a:pPr>
            <a:r>
              <a:t>move1 = skip[ord(txt[pt])]</a:t>
            </a:r>
            <a:br/>
            <a:r>
              <a:t>move2 = len(pat) - pp</a:t>
            </a:r>
            <a:br/>
            <a:br/>
            <a:r>
              <a:t>if move1 &gt; move2:</a:t>
            </a:r>
            <a:br/>
            <a:r>
              <a:t>    pt += move1</a:t>
            </a:r>
            <a:br/>
            <a:r>
              <a:t>else:</a:t>
            </a:r>
            <a:br/>
            <a:r>
              <a:t>    pt += move2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965960"/>
            <a:ext cx="4663440" cy="914400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44768" y="2075688"/>
            <a:ext cx="4443983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  <a:latin typeface="Consolas"/>
              </a:defRPr>
            </a:pPr>
            <a:r>
              <a:t># 같은 의미</a:t>
            </a:r>
            <a:br/>
            <a:r>
              <a:t>pt += max(skip[ord(txt[pt])], len(pat) - pp)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4290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656A0"/>
                </a:solidFill>
                <a:latin typeface="Malgun Gothic"/>
              </a:defRPr>
            </a:pPr>
            <a:r>
              <a:t>즉, 문자 기준 이동량과 위치 기준 최소 이동량 중 더 큰 값을 사용함.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move1: 문자 기준 이동량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7617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733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32588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37617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733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132588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91640" y="137617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733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132588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94560" y="137617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6733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132588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97480" y="137617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16733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32588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137617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16733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32588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03320" y="137617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16733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132588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06240" y="137617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16733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60" y="132588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60" y="137617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16733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132588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137617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16733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132588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15000" y="137617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16733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251460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256489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28620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8720" y="251460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88720" y="256489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28620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91640" y="251460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691640" y="256489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91640" y="28620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3617" y="1207008"/>
            <a:ext cx="4169663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Consolas"/>
              </a:defRPr>
            </a:pPr>
            <a:r>
              <a:rPr dirty="0"/>
              <a:t>move1 = skip[</a:t>
            </a:r>
            <a:r>
              <a:rPr dirty="0" err="1"/>
              <a:t>ord</a:t>
            </a:r>
            <a:r>
              <a:rPr dirty="0"/>
              <a:t>(txt[pt])]</a:t>
            </a:r>
            <a:br>
              <a:rPr dirty="0"/>
            </a:br>
            <a:r>
              <a:rPr dirty="0"/>
              <a:t>      = skip[</a:t>
            </a:r>
            <a:r>
              <a:rPr dirty="0" err="1"/>
              <a:t>ord</a:t>
            </a:r>
            <a:r>
              <a:rPr dirty="0"/>
              <a:t>('A')]</a:t>
            </a:r>
            <a:br>
              <a:rPr dirty="0"/>
            </a:br>
            <a:r>
              <a:rPr dirty="0"/>
              <a:t>      = skip[65]</a:t>
            </a:r>
            <a:br>
              <a:rPr dirty="0"/>
            </a:br>
            <a:r>
              <a:rPr dirty="0"/>
              <a:t>      =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656A0"/>
                </a:solidFill>
                <a:latin typeface="Malgun Gothic"/>
              </a:defRPr>
            </a:pPr>
            <a:r>
              <a:t>의미: 텍스트의 A와 패턴 안의 A를 맞추려면 2칸 이동함.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move2: 위치 기준 최소 이동량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0603" y="1234439"/>
            <a:ext cx="4169663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  <a:latin typeface="Consolas"/>
              </a:defRPr>
            </a:pPr>
            <a:r>
              <a:rPr dirty="0"/>
              <a:t>pp = 2</a:t>
            </a:r>
            <a:br>
              <a:rPr dirty="0"/>
            </a:br>
            <a:r>
              <a:rPr dirty="0" err="1"/>
              <a:t>len</a:t>
            </a:r>
            <a:r>
              <a:rPr dirty="0"/>
              <a:t>(pat) = 3</a:t>
            </a:r>
            <a:br>
              <a:rPr dirty="0"/>
            </a:br>
            <a:r>
              <a:rPr dirty="0"/>
              <a:t>move2 = </a:t>
            </a:r>
            <a:r>
              <a:rPr dirty="0" err="1"/>
              <a:t>len</a:t>
            </a:r>
            <a:r>
              <a:rPr dirty="0"/>
              <a:t>(pat) - pp</a:t>
            </a:r>
            <a:br>
              <a:rPr dirty="0"/>
            </a:br>
            <a:r>
              <a:rPr dirty="0"/>
              <a:t>      = 3 - 2</a:t>
            </a:r>
            <a:br>
              <a:rPr dirty="0"/>
            </a:br>
            <a:r>
              <a:rPr dirty="0"/>
              <a:t>     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33872" y="1280160"/>
            <a:ext cx="396849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Malgun Gothic"/>
              </a:defRPr>
            </a:pPr>
            <a:r>
              <a:t>의미: 최소 1칸은 오른쪽으로 이동해야 같은 자리 반복을 피함.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Malgun Gothic"/>
              </a:defRPr>
            </a:pPr>
            <a:r>
              <a:t>패턴 끝 문자의 skip 값은 0일 수 있음.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337560"/>
            <a:ext cx="91440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3383279"/>
            <a:ext cx="9070848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656A0"/>
                </a:solidFill>
                <a:latin typeface="Malgun Gothic"/>
              </a:defRPr>
            </a:pPr>
            <a:r>
              <a:t>예: pat="ABC"에서 skip["C"] = 0</a:t>
            </a:r>
            <a:br/>
            <a:r>
              <a:t>불일치했는데 0칸 이동하면 같은 위치를 계속 비교할 수 있으므로 move2와 비교함.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첫 이동은 2칸이다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143000"/>
            <a:ext cx="2743200" cy="68580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1188720"/>
            <a:ext cx="2670048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41414"/>
                </a:solidFill>
                <a:latin typeface="Malgun Gothic"/>
              </a:defRPr>
            </a:pPr>
            <a:r>
              <a:t>move1 = skip["A"] =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1143000"/>
            <a:ext cx="2743200" cy="68580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68496" y="1188720"/>
            <a:ext cx="2670048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41414"/>
                </a:solidFill>
                <a:latin typeface="Malgun Gothic"/>
              </a:defRPr>
            </a:pPr>
            <a:r>
              <a:t>move2 = 3 - 2 =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143000"/>
            <a:ext cx="274320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77456" y="1188720"/>
            <a:ext cx="2670048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656A0"/>
                </a:solidFill>
                <a:latin typeface="Malgun Gothic"/>
              </a:defRPr>
            </a:pPr>
            <a:r>
              <a:t>max(2, 1) = 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46888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51917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163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46888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251917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163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246888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74519" y="251917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8163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246888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77440" y="251917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8163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360" y="2468880"/>
            <a:ext cx="502920" cy="329184"/>
          </a:xfrm>
          <a:prstGeom prst="rect">
            <a:avLst/>
          </a:prstGeom>
          <a:solidFill>
            <a:srgbClr val="EEF0F2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80360" y="251917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28163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246888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83280" y="251917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8163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6200" y="246888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86200" y="251917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28163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246888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9120" y="251917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28163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246888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92040" y="251917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28163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94960" y="246888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94960" y="251917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28163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97880" y="246888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897880" y="251917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80" y="28163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3337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F5F5F"/>
                </a:solidFill>
                <a:latin typeface="Malgun Gothic"/>
              </a:defRPr>
            </a:pPr>
            <a:r>
              <a:t>이동 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" y="3703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" y="3753611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4050791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71600" y="3703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371600" y="3753611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4050791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74519" y="370332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874519" y="3753611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74519" y="4050791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0" y="3337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F5F5F"/>
                </a:solidFill>
                <a:latin typeface="Malgun Gothic"/>
              </a:defRPr>
            </a:pPr>
            <a:r>
              <a:t>2칸 이동 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74519" y="448056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874519" y="453085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74519" y="482803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77439" y="448056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377439" y="453085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77439" y="482803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80360" y="448056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880360" y="453085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80360" y="482803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40880" y="3429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656A0"/>
                </a:solidFill>
                <a:latin typeface="Malgun Gothic"/>
              </a:defRPr>
            </a:pPr>
            <a:r>
              <a:t>pt = 2 → 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두 번째 비교: C가 맞으면 왼쪽으로 간다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9164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9456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141732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9748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0332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0624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6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6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1500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91640" y="2560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691640" y="2610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2907791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2560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94560" y="2610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2907791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97480" y="256032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97480" y="2610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97480" y="2907791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59752" y="1371600"/>
            <a:ext cx="404164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6825A"/>
                </a:solidFill>
                <a:latin typeface="Malgun Gothic"/>
              </a:defRPr>
            </a:pPr>
            <a:r>
              <a:rPr dirty="0"/>
              <a:t>txt[4] = C, pat[2] = C</a:t>
            </a:r>
            <a:br>
              <a:rPr dirty="0"/>
            </a:br>
            <a:r>
              <a:rPr dirty="0" err="1"/>
              <a:t>일치</a:t>
            </a:r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8203140" y="2322576"/>
            <a:ext cx="249728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Consolas"/>
              </a:defRPr>
            </a:pPr>
            <a:r>
              <a:rPr dirty="0"/>
              <a:t>if pp == 0:</a:t>
            </a:r>
            <a:br>
              <a:rPr dirty="0"/>
            </a:br>
            <a:r>
              <a:rPr dirty="0"/>
              <a:t>    return pt</a:t>
            </a:r>
            <a:br>
              <a:rPr dirty="0"/>
            </a:br>
            <a:r>
              <a:rPr dirty="0" err="1"/>
              <a:t>pt</a:t>
            </a:r>
            <a:r>
              <a:rPr dirty="0"/>
              <a:t> -= 1</a:t>
            </a:r>
            <a:br>
              <a:rPr dirty="0"/>
            </a:br>
            <a:r>
              <a:rPr dirty="0"/>
              <a:t>pp -= 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" y="4297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2D2D"/>
                </a:solidFill>
                <a:latin typeface="Malgun Gothic"/>
              </a:defRPr>
            </a:pPr>
            <a:r>
              <a:rPr dirty="0" err="1"/>
              <a:t>아직</a:t>
            </a:r>
            <a:r>
              <a:rPr dirty="0"/>
              <a:t> pp=2이므로 </a:t>
            </a:r>
            <a:r>
              <a:rPr dirty="0" err="1"/>
              <a:t>시작까지</a:t>
            </a:r>
            <a:r>
              <a:rPr dirty="0"/>
              <a:t> 간 </a:t>
            </a:r>
            <a:r>
              <a:rPr dirty="0" err="1"/>
              <a:t>것은</a:t>
            </a:r>
            <a:r>
              <a:rPr dirty="0"/>
              <a:t> </a:t>
            </a:r>
            <a:r>
              <a:rPr dirty="0" err="1"/>
              <a:t>아님</a:t>
            </a:r>
            <a:r>
              <a:rPr dirty="0"/>
              <a:t>. </a:t>
            </a:r>
            <a:r>
              <a:rPr dirty="0" err="1"/>
              <a:t>따라서</a:t>
            </a:r>
            <a:r>
              <a:rPr dirty="0"/>
              <a:t> </a:t>
            </a:r>
            <a:r>
              <a:rPr dirty="0" err="1"/>
              <a:t>왼쪽으로</a:t>
            </a:r>
            <a:r>
              <a:rPr dirty="0"/>
              <a:t> 한 칸 </a:t>
            </a:r>
            <a:r>
              <a:rPr dirty="0" err="1"/>
              <a:t>이동함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B도 맞고, 다시 왼쪽으로 이동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9164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141732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9456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1417320"/>
            <a:ext cx="502920" cy="329184"/>
          </a:xfrm>
          <a:prstGeom prst="rect">
            <a:avLst/>
          </a:prstGeom>
          <a:solidFill>
            <a:srgbClr val="EEF0F2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9748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0332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0624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6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6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1500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91640" y="2560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691640" y="2610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2907791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256032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94560" y="2610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2907791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97480" y="2560320"/>
            <a:ext cx="502920" cy="329184"/>
          </a:xfrm>
          <a:prstGeom prst="rect">
            <a:avLst/>
          </a:prstGeom>
          <a:solidFill>
            <a:srgbClr val="EEF0F2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97480" y="2610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97480" y="2907791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18959" y="1289304"/>
            <a:ext cx="431596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6825A"/>
                </a:solidFill>
                <a:latin typeface="Malgun Gothic"/>
              </a:defRPr>
            </a:pPr>
            <a:r>
              <a:rPr dirty="0"/>
              <a:t>txt[3] = B, pat[1] = B</a:t>
            </a:r>
            <a:br>
              <a:rPr dirty="0"/>
            </a:br>
            <a:r>
              <a:rPr dirty="0" err="1"/>
              <a:t>일치</a:t>
            </a:r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6735691" y="2560320"/>
            <a:ext cx="4315968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656A0"/>
                </a:solidFill>
                <a:latin typeface="Malgun Gothic"/>
              </a:defRPr>
            </a:pP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변화</a:t>
            </a:r>
            <a:br>
              <a:rPr dirty="0"/>
            </a:br>
            <a:r>
              <a:rPr dirty="0"/>
              <a:t>C </a:t>
            </a:r>
            <a:r>
              <a:rPr dirty="0" err="1"/>
              <a:t>일치</a:t>
            </a:r>
            <a:r>
              <a:rPr dirty="0"/>
              <a:t> 후: pt=3, pp=1</a:t>
            </a:r>
            <a:br>
              <a:rPr dirty="0"/>
            </a:br>
            <a:r>
              <a:rPr dirty="0" err="1"/>
              <a:t>B도</a:t>
            </a:r>
            <a:r>
              <a:rPr dirty="0"/>
              <a:t> </a:t>
            </a:r>
            <a:r>
              <a:rPr dirty="0" err="1"/>
              <a:t>일치</a:t>
            </a:r>
            <a:r>
              <a:rPr dirty="0"/>
              <a:t> → pt=2, pp=0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A까지 맞으면 검색 성공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141732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9164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1417320"/>
            <a:ext cx="502920" cy="329184"/>
          </a:xfrm>
          <a:prstGeom prst="rect">
            <a:avLst/>
          </a:prstGeom>
          <a:solidFill>
            <a:srgbClr val="EEF0F2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9456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1417320"/>
            <a:ext cx="502920" cy="329184"/>
          </a:xfrm>
          <a:prstGeom prst="rect">
            <a:avLst/>
          </a:prstGeom>
          <a:solidFill>
            <a:srgbClr val="EEF0F2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9748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0332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0624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6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6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1417320"/>
            <a:ext cx="5029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15000" y="1467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176479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91640" y="2560320"/>
            <a:ext cx="502920" cy="329184"/>
          </a:xfrm>
          <a:prstGeom prst="rect">
            <a:avLst/>
          </a:prstGeom>
          <a:solidFill>
            <a:srgbClr val="FFF2CC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691640" y="2610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2907791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2560320"/>
            <a:ext cx="502920" cy="329184"/>
          </a:xfrm>
          <a:prstGeom prst="rect">
            <a:avLst/>
          </a:prstGeom>
          <a:solidFill>
            <a:srgbClr val="EEF0F2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94560" y="2610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2907791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97480" y="2560320"/>
            <a:ext cx="502920" cy="329184"/>
          </a:xfrm>
          <a:prstGeom prst="rect">
            <a:avLst/>
          </a:prstGeom>
          <a:solidFill>
            <a:srgbClr val="EEF0F2"/>
          </a:solidFill>
          <a:ln w="1016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97480" y="2610612"/>
            <a:ext cx="5029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Malgun Gothic"/>
              </a:defRPr>
            </a:pPr>
            <a: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97480" y="2907791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5F5F5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85432" y="1282138"/>
            <a:ext cx="431596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6825A"/>
                </a:solidFill>
                <a:latin typeface="Malgun Gothic"/>
              </a:defRPr>
            </a:pPr>
            <a:r>
              <a:rPr dirty="0"/>
              <a:t>txt[2] = A, pat[0] = A</a:t>
            </a:r>
            <a:br>
              <a:rPr dirty="0"/>
            </a:br>
            <a:r>
              <a:rPr dirty="0" err="1"/>
              <a:t>일치</a:t>
            </a:r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8177200" y="2480003"/>
            <a:ext cx="4169663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  <a:latin typeface="Consolas"/>
              </a:defRPr>
            </a:pPr>
            <a:r>
              <a:rPr dirty="0"/>
              <a:t>if pp == 0:</a:t>
            </a:r>
            <a:br>
              <a:rPr dirty="0"/>
            </a:br>
            <a:r>
              <a:rPr dirty="0"/>
              <a:t>    return pt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4023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656A0"/>
                </a:solidFill>
                <a:latin typeface="Malgun Gothic"/>
              </a:defRPr>
            </a:pPr>
            <a:r>
              <a:rPr dirty="0" err="1"/>
              <a:t>오른쪽에서</a:t>
            </a:r>
            <a:r>
              <a:rPr dirty="0"/>
              <a:t> </a:t>
            </a:r>
            <a:r>
              <a:rPr dirty="0" err="1"/>
              <a:t>왼쪽으로</a:t>
            </a:r>
            <a:r>
              <a:rPr dirty="0"/>
              <a:t> C → B → </a:t>
            </a:r>
            <a:r>
              <a:rPr dirty="0" err="1"/>
              <a:t>A가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맞음</a:t>
            </a:r>
            <a:r>
              <a:rPr dirty="0"/>
              <a:t> </a:t>
            </a:r>
            <a:r>
              <a:rPr dirty="0" err="1"/>
              <a:t>이때</a:t>
            </a:r>
            <a:r>
              <a:rPr dirty="0"/>
              <a:t>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pt는</a:t>
            </a:r>
            <a:r>
              <a:rPr dirty="0"/>
              <a:t> </a:t>
            </a:r>
            <a:r>
              <a:rPr dirty="0" err="1"/>
              <a:t>패턴의</a:t>
            </a:r>
            <a:r>
              <a:rPr dirty="0"/>
              <a:t> 첫 </a:t>
            </a:r>
            <a:r>
              <a:rPr dirty="0" err="1"/>
              <a:t>문자</a:t>
            </a:r>
            <a:r>
              <a:rPr dirty="0"/>
              <a:t> </a:t>
            </a:r>
            <a:r>
              <a:rPr dirty="0" err="1"/>
              <a:t>위치이므로</a:t>
            </a:r>
            <a:r>
              <a:rPr dirty="0"/>
              <a:t> return pt = 2임.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Malgun Gothic"/>
              </a:defRPr>
            </a:pPr>
            <a:r>
              <a:t>BM 전체 추적표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4241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단계</a:t>
                      </a:r>
                    </a:p>
                  </a:txBody>
                  <a:tcPr marL="45720" marR="45720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pt</a:t>
                      </a:r>
                    </a:p>
                  </a:txBody>
                  <a:tcPr marL="45720" marR="45720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pp</a:t>
                      </a:r>
                    </a:p>
                  </a:txBody>
                  <a:tcPr marL="45720" marR="45720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비교</a:t>
                      </a:r>
                    </a:p>
                  </a:txBody>
                  <a:tcPr marL="45720" marR="45720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결과</a:t>
                      </a:r>
                    </a:p>
                  </a:txBody>
                  <a:tcPr marL="45720" marR="45720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다음 동작</a:t>
                      </a:r>
                    </a:p>
                  </a:txBody>
                  <a:tcPr marL="45720" marR="45720"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txt[2]=A vs pat[2]=C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불일치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max(2,1)=2칸 이동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txt[4]=C vs pat[2]=C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일치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왼쪽 이동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txt[3]=B vs pat[1]=B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일치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왼쪽 이동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txt[2]=A vs pat[0]=A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일치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41414"/>
                          </a:solidFill>
                          <a:latin typeface="Malgun Gothic"/>
                        </a:defRPr>
                      </a:pPr>
                      <a:r>
                        <a:t>return 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2468880" y="5074920"/>
            <a:ext cx="7040880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05456" y="5120640"/>
            <a:ext cx="6967728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656A0"/>
                </a:solidFill>
                <a:latin typeface="Malgun Gothic"/>
              </a:defRPr>
            </a:pPr>
            <a:r>
              <a:t>출력 코드에서 print(idx + 1)이므로 최종 출력은 3임.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4543</Words>
  <Application>Microsoft Office PowerPoint</Application>
  <PresentationFormat>와이드스크린</PresentationFormat>
  <Paragraphs>1251</Paragraphs>
  <Slides>48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4" baseType="lpstr">
      <vt:lpstr>Malgun Gothic</vt:lpstr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기홍 신</cp:lastModifiedBy>
  <cp:revision>32</cp:revision>
  <dcterms:created xsi:type="dcterms:W3CDTF">2013-01-27T09:14:16Z</dcterms:created>
  <dcterms:modified xsi:type="dcterms:W3CDTF">2026-05-18T16:58:50Z</dcterms:modified>
  <cp:category/>
</cp:coreProperties>
</file>